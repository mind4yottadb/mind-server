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7" r:id="rId4"/>
    <p:sldId id="258" r:id="rId5"/>
    <p:sldId id="264" r:id="rId6"/>
    <p:sldId id="263" r:id="rId7"/>
    <p:sldId id="259" r:id="rId8"/>
    <p:sldId id="268" r:id="rId9"/>
    <p:sldId id="260" r:id="rId10"/>
    <p:sldId id="270" r:id="rId11"/>
    <p:sldId id="271" r:id="rId12"/>
    <p:sldId id="269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sz="1400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sz="1400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from multiple languages</a:t>
          </a:r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r>
            <a:rPr lang="en-US" sz="1400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sz="1400" dirty="0"/>
            <a:t>Soon Java, Go and .NET drivers will be available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sz="1200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sz="1200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sz="1200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AA2FA24-1521-4189-A205-F4F5DE2789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Support your existing M code right away</a:t>
          </a:r>
          <a:endParaRPr lang="en-NL" dirty="0"/>
        </a:p>
      </dgm:t>
    </dgm:pt>
    <dgm:pt modelId="{8EB9754A-2D2C-47B0-86CE-A121140B02A9}" type="parTrans" cxnId="{EE50A9F9-0633-48E6-8993-9AAE38539E93}">
      <dgm:prSet/>
      <dgm:spPr/>
      <dgm:t>
        <a:bodyPr/>
        <a:lstStyle/>
        <a:p>
          <a:endParaRPr lang="en-NL"/>
        </a:p>
      </dgm:t>
    </dgm:pt>
    <dgm:pt modelId="{E9066788-C52E-4A94-AF8C-EFACB72EE811}" type="sibTrans" cxnId="{EE50A9F9-0633-48E6-8993-9AAE38539E93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NL"/>
        </a:p>
      </dgm:t>
    </dgm:pt>
    <dgm:pt modelId="{341895CC-F5AE-4185-A7B4-20DAAD306ED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You can call your existing code directly, specifying parameters and (eventual) return value.</a:t>
          </a:r>
          <a:endParaRPr lang="en-NL" sz="1200" dirty="0"/>
        </a:p>
      </dgm:t>
    </dgm:pt>
    <dgm:pt modelId="{51E34353-253B-4A09-907A-C1F0F987F1E7}" type="parTrans" cxnId="{29E62658-E0CD-4D06-ADB0-9341313A866D}">
      <dgm:prSet/>
      <dgm:spPr/>
      <dgm:t>
        <a:bodyPr/>
        <a:lstStyle/>
        <a:p>
          <a:endParaRPr lang="en-NL"/>
        </a:p>
      </dgm:t>
    </dgm:pt>
    <dgm:pt modelId="{5EEB0805-A565-4B85-B7A5-6ACF3C848277}" type="sibTrans" cxnId="{29E62658-E0CD-4D06-ADB0-9341313A866D}">
      <dgm:prSet/>
      <dgm:spPr/>
      <dgm:t>
        <a:bodyPr/>
        <a:lstStyle/>
        <a:p>
          <a:endParaRPr lang="en-NL"/>
        </a:p>
      </dgm:t>
    </dgm:pt>
    <dgm:pt modelId="{C0297382-340E-4BD9-9668-818CC13B2B4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code in the JSON file, it is available in the client right away</a:t>
          </a:r>
          <a:endParaRPr lang="en-NL" sz="1200" dirty="0"/>
        </a:p>
      </dgm:t>
    </dgm:pt>
    <dgm:pt modelId="{0AE2E466-7E32-43D2-AC2C-09CEF94D0E22}" type="parTrans" cxnId="{FBF3D7A3-FCBE-4402-8DBE-E5365C2A14BD}">
      <dgm:prSet/>
      <dgm:spPr/>
      <dgm:t>
        <a:bodyPr/>
        <a:lstStyle/>
        <a:p>
          <a:endParaRPr lang="en-NL"/>
        </a:p>
      </dgm:t>
    </dgm:pt>
    <dgm:pt modelId="{061912DC-B2E0-4F87-B8A9-21B8C40566D7}" type="sibTrans" cxnId="{FBF3D7A3-FCBE-4402-8DBE-E5365C2A14BD}">
      <dgm:prSet/>
      <dgm:spPr/>
      <dgm:t>
        <a:bodyPr/>
        <a:lstStyle/>
        <a:p>
          <a:endParaRPr lang="en-NL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8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8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8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8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8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8">
        <dgm:presLayoutVars>
          <dgm:bulletEnabled/>
        </dgm:presLayoutVars>
      </dgm:prSet>
      <dgm:spPr/>
    </dgm:pt>
    <dgm:pt modelId="{22C7BBDA-E201-4BCB-B174-C638359A9190}" type="pres">
      <dgm:prSet presAssocID="{AD175B27-BF85-41B6-9B87-24460515CD3C}" presName="sibTrans" presStyleLbl="sibTrans2D1" presStyleIdx="0" presStyleCnt="0"/>
      <dgm:spPr/>
    </dgm:pt>
    <dgm:pt modelId="{84A4A014-22ED-4AEA-9E9D-867A9F401653}" type="pres">
      <dgm:prSet presAssocID="{3AA2FA24-1521-4189-A205-F4F5DE278920}" presName="compNode" presStyleCnt="0"/>
      <dgm:spPr/>
    </dgm:pt>
    <dgm:pt modelId="{76448584-D501-4333-884C-F960C3FAA9BE}" type="pres">
      <dgm:prSet presAssocID="{3AA2FA24-1521-4189-A205-F4F5DE278920}" presName="pictRect" presStyleLbl="revTx" presStyleIdx="6" presStyleCnt="8">
        <dgm:presLayoutVars>
          <dgm:chMax val="0"/>
          <dgm:bulletEnabled/>
        </dgm:presLayoutVars>
      </dgm:prSet>
      <dgm:spPr/>
    </dgm:pt>
    <dgm:pt modelId="{9925560B-C3AD-44BD-A1A3-25292C97D5DC}" type="pres">
      <dgm:prSet presAssocID="{3AA2FA24-1521-4189-A205-F4F5DE278920}" presName="textRect" presStyleLbl="revTx" presStyleIdx="7" presStyleCnt="8">
        <dgm:presLayoutVars>
          <dgm:bulletEnabled/>
        </dgm:presLayoutVars>
      </dgm:prSet>
      <dgm:spPr/>
    </dgm:pt>
  </dgm:ptLst>
  <dgm:cxnLst>
    <dgm:cxn modelId="{E7E6B004-430A-4872-9340-3ACECE2825E4}" type="presOf" srcId="{768B9187-70A7-4F24-98C9-4549D9A80F20}" destId="{58CF0B87-5490-46B7-A456-64A277CB332C}" srcOrd="0" destOrd="0" presId="urn:microsoft.com/office/officeart/2024/3/layout/hArchList1"/>
    <dgm:cxn modelId="{3F8CA406-7939-4295-928C-F9868B166F2F}" type="presOf" srcId="{E137F926-3C8F-4C45-8350-903EA88D75AF}" destId="{412E2C94-E9BF-4E2B-961F-50EF83661C9E}" srcOrd="0" destOrd="0" presId="urn:microsoft.com/office/officeart/2024/3/layout/hArchList1"/>
    <dgm:cxn modelId="{19150107-6B36-4FF7-9783-871469064D76}" type="presOf" srcId="{3AB04008-29BA-487D-8C45-AE18FA21868B}" destId="{4CD37533-18BB-44AF-9438-CA8C06D267FF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C456C91E-E619-47D2-B54F-13F0F1774580}" type="presOf" srcId="{FABA06FE-F150-48B5-B3D7-2915E3C41ABD}" destId="{6BD7537A-36A9-42F0-9C36-0D4BA2D0752A}" srcOrd="0" destOrd="0" presId="urn:microsoft.com/office/officeart/2024/3/layout/hArchList1"/>
    <dgm:cxn modelId="{A7C5D724-BF33-4994-B4B6-08D41035EC43}" type="presOf" srcId="{341895CC-F5AE-4185-A7B4-20DAAD306EDB}" destId="{9925560B-C3AD-44BD-A1A3-25292C97D5DC}" srcOrd="0" destOrd="0" presId="urn:microsoft.com/office/officeart/2024/3/layout/hArchList1"/>
    <dgm:cxn modelId="{CDA5292D-7BF0-451F-8FCA-6B1ABEAEA1B0}" type="presOf" srcId="{FBA685A8-C4ED-4A44-BA15-A95087C22363}" destId="{E38D88DE-6630-449F-B815-64F25EB69547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29E62658-E0CD-4D06-ADB0-9341313A866D}" srcId="{3AA2FA24-1521-4189-A205-F4F5DE278920}" destId="{341895CC-F5AE-4185-A7B4-20DAAD306EDB}" srcOrd="0" destOrd="0" parTransId="{51E34353-253B-4A09-907A-C1F0F987F1E7}" sibTransId="{5EEB0805-A565-4B85-B7A5-6ACF3C848277}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9FCD8897-0BC0-43A9-AFF0-F8CA6CBC7C43}" type="presOf" srcId="{3AA2FA24-1521-4189-A205-F4F5DE278920}" destId="{76448584-D501-4333-884C-F960C3FAA9BE}" srcOrd="0" destOrd="0" presId="urn:microsoft.com/office/officeart/2024/3/layout/hArchList1"/>
    <dgm:cxn modelId="{FBF3D7A3-FCBE-4402-8DBE-E5365C2A14BD}" srcId="{3AA2FA24-1521-4189-A205-F4F5DE278920}" destId="{C0297382-340E-4BD9-9668-818CC13B2B4C}" srcOrd="1" destOrd="0" parTransId="{0AE2E466-7E32-43D2-AC2C-09CEF94D0E22}" sibTransId="{061912DC-B2E0-4F87-B8A9-21B8C40566D7}"/>
    <dgm:cxn modelId="{A2103AA5-AF3F-447E-8CF3-66CE371D7265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8D0B0EA9-AA1F-4F96-AA49-A7CF8580FB84}" type="presOf" srcId="{C0297382-340E-4BD9-9668-818CC13B2B4C}" destId="{9925560B-C3AD-44BD-A1A3-25292C97D5DC}" srcOrd="0" destOrd="1" presId="urn:microsoft.com/office/officeart/2024/3/layout/hArchList1"/>
    <dgm:cxn modelId="{4E464CB9-1F50-4CEF-8D1D-4D37F1D6F177}" type="presOf" srcId="{AD175B27-BF85-41B6-9B87-24460515CD3C}" destId="{22C7BBDA-E201-4BCB-B174-C638359A9190}" srcOrd="0" destOrd="0" presId="urn:microsoft.com/office/officeart/2024/3/layout/hArchList1"/>
    <dgm:cxn modelId="{E750A9C7-4CEF-45C9-B133-81EC3F5CA578}" type="presOf" srcId="{D594FA1A-CAFE-4FC9-B29F-017F3AF2316D}" destId="{018F7438-E01D-44D7-ADD6-157BC62500E3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EE50A9F9-0633-48E6-8993-9AAE38539E93}" srcId="{996C4E6A-2C60-4428-8C91-27910EF058EC}" destId="{3AA2FA24-1521-4189-A205-F4F5DE278920}" srcOrd="3" destOrd="0" parTransId="{8EB9754A-2D2C-47B0-86CE-A121140B02A9}" sibTransId="{E9066788-C52E-4A94-AF8C-EFACB72EE811}"/>
    <dgm:cxn modelId="{748F7AFB-7607-418D-A0F6-37BC3EA60FDD}" type="presOf" srcId="{4C74B0FE-0F44-43D7-940D-B9AF6ABF1025}" destId="{8BB355F9-6CC2-4480-9B7E-D892D65FD34C}" srcOrd="0" destOrd="0" presId="urn:microsoft.com/office/officeart/2024/3/layout/hArchList1"/>
    <dgm:cxn modelId="{932A69D6-9FD0-4CA2-924C-1D1A8CAAD84C}" type="presParOf" srcId="{3171E97B-CDE9-41AD-B264-8ADEE4D73563}" destId="{673D3BE1-0B49-408D-A9B7-2ACE218FD35D}" srcOrd="0" destOrd="0" presId="urn:microsoft.com/office/officeart/2024/3/layout/hArchList1"/>
    <dgm:cxn modelId="{552B63F5-0D2A-4F04-902F-B97F064A6E15}" type="presParOf" srcId="{673D3BE1-0B49-408D-A9B7-2ACE218FD35D}" destId="{018F7438-E01D-44D7-ADD6-157BC62500E3}" srcOrd="0" destOrd="0" presId="urn:microsoft.com/office/officeart/2024/3/layout/hArchList1"/>
    <dgm:cxn modelId="{8E79F0D3-C7F2-4B51-BDA1-2FF112573160}" type="presParOf" srcId="{673D3BE1-0B49-408D-A9B7-2ACE218FD35D}" destId="{5C90C3CA-0AA3-4EBE-B50C-5D1938624D21}" srcOrd="1" destOrd="0" presId="urn:microsoft.com/office/officeart/2024/3/layout/hArchList1"/>
    <dgm:cxn modelId="{2C70E249-B11D-4A23-B02F-C47971B7B4C4}" type="presParOf" srcId="{3171E97B-CDE9-41AD-B264-8ADEE4D73563}" destId="{4CD37533-18BB-44AF-9438-CA8C06D267FF}" srcOrd="1" destOrd="0" presId="urn:microsoft.com/office/officeart/2024/3/layout/hArchList1"/>
    <dgm:cxn modelId="{8E8D458A-E2A4-419E-AA5F-BBDC102BEBF5}" type="presParOf" srcId="{3171E97B-CDE9-41AD-B264-8ADEE4D73563}" destId="{4A15BD43-FC5C-486B-BBDD-003A13A15493}" srcOrd="2" destOrd="0" presId="urn:microsoft.com/office/officeart/2024/3/layout/hArchList1"/>
    <dgm:cxn modelId="{62B0DF6F-7D62-4697-8A07-E4F111FE0B91}" type="presParOf" srcId="{4A15BD43-FC5C-486B-BBDD-003A13A15493}" destId="{58CF0B87-5490-46B7-A456-64A277CB332C}" srcOrd="0" destOrd="0" presId="urn:microsoft.com/office/officeart/2024/3/layout/hArchList1"/>
    <dgm:cxn modelId="{74D36ED4-C91E-4326-A3CE-31E5901E0D66}" type="presParOf" srcId="{4A15BD43-FC5C-486B-BBDD-003A13A15493}" destId="{8BB355F9-6CC2-4480-9B7E-D892D65FD34C}" srcOrd="1" destOrd="0" presId="urn:microsoft.com/office/officeart/2024/3/layout/hArchList1"/>
    <dgm:cxn modelId="{31F2C47B-BCE4-43BE-8C57-66ED7D20A082}" type="presParOf" srcId="{3171E97B-CDE9-41AD-B264-8ADEE4D73563}" destId="{412E2C94-E9BF-4E2B-961F-50EF83661C9E}" srcOrd="3" destOrd="0" presId="urn:microsoft.com/office/officeart/2024/3/layout/hArchList1"/>
    <dgm:cxn modelId="{108791BD-7EA8-4543-A6F0-B4F2B3076A1F}" type="presParOf" srcId="{3171E97B-CDE9-41AD-B264-8ADEE4D73563}" destId="{00797D44-CAE9-428C-9B5E-3CE638B13212}" srcOrd="4" destOrd="0" presId="urn:microsoft.com/office/officeart/2024/3/layout/hArchList1"/>
    <dgm:cxn modelId="{A60C68F2-12F4-4CB1-9BC0-BC3F1F6D9D24}" type="presParOf" srcId="{00797D44-CAE9-428C-9B5E-3CE638B13212}" destId="{E38D88DE-6630-449F-B815-64F25EB69547}" srcOrd="0" destOrd="0" presId="urn:microsoft.com/office/officeart/2024/3/layout/hArchList1"/>
    <dgm:cxn modelId="{EBA866BF-59B4-4164-AE7F-17E8484DBF08}" type="presParOf" srcId="{00797D44-CAE9-428C-9B5E-3CE638B13212}" destId="{6BD7537A-36A9-42F0-9C36-0D4BA2D0752A}" srcOrd="1" destOrd="0" presId="urn:microsoft.com/office/officeart/2024/3/layout/hArchList1"/>
    <dgm:cxn modelId="{D99F9705-CCB6-4448-93E9-8DC7147510C6}" type="presParOf" srcId="{3171E97B-CDE9-41AD-B264-8ADEE4D73563}" destId="{22C7BBDA-E201-4BCB-B174-C638359A9190}" srcOrd="5" destOrd="0" presId="urn:microsoft.com/office/officeart/2024/3/layout/hArchList1"/>
    <dgm:cxn modelId="{CB27171A-FBFD-49B7-8337-5C076C564E6D}" type="presParOf" srcId="{3171E97B-CDE9-41AD-B264-8ADEE4D73563}" destId="{84A4A014-22ED-4AEA-9E9D-867A9F401653}" srcOrd="6" destOrd="0" presId="urn:microsoft.com/office/officeart/2024/3/layout/hArchList1"/>
    <dgm:cxn modelId="{D405B57B-B234-4593-9E1C-D62B389B34B5}" type="presParOf" srcId="{84A4A014-22ED-4AEA-9E9D-867A9F401653}" destId="{76448584-D501-4333-884C-F960C3FAA9BE}" srcOrd="0" destOrd="0" presId="urn:microsoft.com/office/officeart/2024/3/layout/hArchList1"/>
    <dgm:cxn modelId="{6F8E35E4-614F-4546-A85D-8B1CD3FDCAE2}" type="presParOf" srcId="{84A4A014-22ED-4AEA-9E9D-867A9F401653}" destId="{9925560B-C3AD-44BD-A1A3-25292C97D5DC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F0D2AA-5727-47E4-885B-0AD7C69408FC}" type="doc">
      <dgm:prSet loTypeId="urn:microsoft.com/office/officeart/2009/3/layout/IncreasingArrows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NL"/>
        </a:p>
      </dgm:t>
    </dgm:pt>
    <dgm:pt modelId="{9CB5A71A-0CED-471E-A2E8-29F4D481FAEA}">
      <dgm:prSet phldrT="[Text]"/>
      <dgm:spPr/>
      <dgm:t>
        <a:bodyPr/>
        <a:lstStyle/>
        <a:p>
          <a:r>
            <a:rPr lang="en-US" dirty="0"/>
            <a:t>DESCRIBE</a:t>
          </a:r>
          <a:endParaRPr lang="en-NL" dirty="0"/>
        </a:p>
      </dgm:t>
    </dgm:pt>
    <dgm:pt modelId="{FBACFB23-C58D-4779-B739-6842A01D4026}" type="parTrans" cxnId="{047E2F73-5612-4C2A-8B14-DCF661A7E1D3}">
      <dgm:prSet/>
      <dgm:spPr/>
      <dgm:t>
        <a:bodyPr/>
        <a:lstStyle/>
        <a:p>
          <a:endParaRPr lang="en-NL"/>
        </a:p>
      </dgm:t>
    </dgm:pt>
    <dgm:pt modelId="{14C68E61-B304-4EB7-A8E3-AD04A07138C0}" type="sibTrans" cxnId="{047E2F73-5612-4C2A-8B14-DCF661A7E1D3}">
      <dgm:prSet/>
      <dgm:spPr/>
      <dgm:t>
        <a:bodyPr/>
        <a:lstStyle/>
        <a:p>
          <a:endParaRPr lang="en-NL"/>
        </a:p>
      </dgm:t>
    </dgm:pt>
    <dgm:pt modelId="{4344EF75-7F9E-4CEC-88BE-5267E73F6C26}">
      <dgm:prSet phldrT="[Text]" phldr="0"/>
      <dgm:spPr/>
      <dgm:t>
        <a:bodyPr/>
        <a:lstStyle/>
        <a:p>
          <a:r>
            <a:rPr lang="en-US" dirty="0"/>
            <a:t>Describe your method in a JSON file and restart the Mind server.</a:t>
          </a:r>
          <a:endParaRPr lang="en-NL" dirty="0"/>
        </a:p>
      </dgm:t>
    </dgm:pt>
    <dgm:pt modelId="{4761A776-83AC-45F9-B980-CCF47FB439A6}" type="parTrans" cxnId="{21736EC6-DF9E-4812-8885-8F99A279210D}">
      <dgm:prSet/>
      <dgm:spPr/>
      <dgm:t>
        <a:bodyPr/>
        <a:lstStyle/>
        <a:p>
          <a:endParaRPr lang="en-NL"/>
        </a:p>
      </dgm:t>
    </dgm:pt>
    <dgm:pt modelId="{2A1533C5-0809-4C32-A6A6-C3A810138ECE}" type="sibTrans" cxnId="{21736EC6-DF9E-4812-8885-8F99A279210D}">
      <dgm:prSet/>
      <dgm:spPr/>
      <dgm:t>
        <a:bodyPr/>
        <a:lstStyle/>
        <a:p>
          <a:endParaRPr lang="en-NL"/>
        </a:p>
      </dgm:t>
    </dgm:pt>
    <dgm:pt modelId="{928B3A8B-099C-4245-81CD-ABCA14C50A5E}">
      <dgm:prSet phldrT="[Text]" phldr="0"/>
      <dgm:spPr/>
      <dgm:t>
        <a:bodyPr/>
        <a:lstStyle/>
        <a:p>
          <a:r>
            <a:rPr lang="en-US" dirty="0"/>
            <a:t>CODE</a:t>
          </a:r>
          <a:endParaRPr lang="en-NL" dirty="0"/>
        </a:p>
      </dgm:t>
    </dgm:pt>
    <dgm:pt modelId="{B1AE77A9-9E35-43DD-8B99-95F9034E28E2}" type="parTrans" cxnId="{63928ABD-C46A-4BFE-9D2D-329F914A7672}">
      <dgm:prSet/>
      <dgm:spPr/>
      <dgm:t>
        <a:bodyPr/>
        <a:lstStyle/>
        <a:p>
          <a:endParaRPr lang="en-NL"/>
        </a:p>
      </dgm:t>
    </dgm:pt>
    <dgm:pt modelId="{D46E7F58-DAE3-46EA-A7A3-D1FC271B400C}" type="sibTrans" cxnId="{63928ABD-C46A-4BFE-9D2D-329F914A7672}">
      <dgm:prSet/>
      <dgm:spPr/>
      <dgm:t>
        <a:bodyPr/>
        <a:lstStyle/>
        <a:p>
          <a:endParaRPr lang="en-NL"/>
        </a:p>
      </dgm:t>
    </dgm:pt>
    <dgm:pt modelId="{DA319F0F-473C-4E9A-8E38-C39EA20CA45C}">
      <dgm:prSet phldrT="[Text]" phldr="0"/>
      <dgm:spPr/>
      <dgm:t>
        <a:bodyPr/>
        <a:lstStyle/>
        <a:p>
          <a:r>
            <a:rPr lang="en-US" dirty="0"/>
            <a:t>Write M code or simply re-use your Legacy code.</a:t>
          </a:r>
          <a:endParaRPr lang="en-NL" dirty="0"/>
        </a:p>
      </dgm:t>
    </dgm:pt>
    <dgm:pt modelId="{B6681FC6-732F-4940-AB00-A705160479F5}" type="parTrans" cxnId="{186410B0-56AA-485D-8661-966F58E6C0D9}">
      <dgm:prSet/>
      <dgm:spPr/>
      <dgm:t>
        <a:bodyPr/>
        <a:lstStyle/>
        <a:p>
          <a:endParaRPr lang="en-NL"/>
        </a:p>
      </dgm:t>
    </dgm:pt>
    <dgm:pt modelId="{3288B630-77A4-4303-B46A-8295D57981F0}" type="sibTrans" cxnId="{186410B0-56AA-485D-8661-966F58E6C0D9}">
      <dgm:prSet/>
      <dgm:spPr/>
      <dgm:t>
        <a:bodyPr/>
        <a:lstStyle/>
        <a:p>
          <a:endParaRPr lang="en-NL"/>
        </a:p>
      </dgm:t>
    </dgm:pt>
    <dgm:pt modelId="{028DA142-C92D-45B3-9714-986F7A2F73F8}">
      <dgm:prSet phldrT="[Text]" phldr="0"/>
      <dgm:spPr/>
      <dgm:t>
        <a:bodyPr/>
        <a:lstStyle/>
        <a:p>
          <a:r>
            <a:rPr lang="en-US" dirty="0"/>
            <a:t>EXECUTE</a:t>
          </a:r>
          <a:endParaRPr lang="en-NL" dirty="0"/>
        </a:p>
      </dgm:t>
    </dgm:pt>
    <dgm:pt modelId="{0DE8F76B-0C5C-4DB5-94C2-BC83DB023453}" type="parTrans" cxnId="{0A6B94BF-4993-46D3-9476-5ABA78086C1D}">
      <dgm:prSet/>
      <dgm:spPr/>
      <dgm:t>
        <a:bodyPr/>
        <a:lstStyle/>
        <a:p>
          <a:endParaRPr lang="en-NL"/>
        </a:p>
      </dgm:t>
    </dgm:pt>
    <dgm:pt modelId="{08E2E17B-C633-40F7-BF3F-903076414FB4}" type="sibTrans" cxnId="{0A6B94BF-4993-46D3-9476-5ABA78086C1D}">
      <dgm:prSet/>
      <dgm:spPr/>
      <dgm:t>
        <a:bodyPr/>
        <a:lstStyle/>
        <a:p>
          <a:endParaRPr lang="en-NL"/>
        </a:p>
      </dgm:t>
    </dgm:pt>
    <dgm:pt modelId="{918F5F83-4066-4A9A-86C5-4CC17D51FEFC}">
      <dgm:prSet phldrT="[Text]" phldr="0"/>
      <dgm:spPr/>
      <dgm:t>
        <a:bodyPr/>
        <a:lstStyle/>
        <a:p>
          <a:r>
            <a:rPr lang="en-US" dirty="0"/>
            <a:t>You can call the method right away, which will execute the M code and return data</a:t>
          </a:r>
          <a:endParaRPr lang="en-NL" dirty="0"/>
        </a:p>
      </dgm:t>
    </dgm:pt>
    <dgm:pt modelId="{436780E1-0300-4F9C-ABD2-5DD30867CFE3}" type="parTrans" cxnId="{06BA9528-8E45-45AE-BBD7-641E50D4EDC4}">
      <dgm:prSet/>
      <dgm:spPr/>
      <dgm:t>
        <a:bodyPr/>
        <a:lstStyle/>
        <a:p>
          <a:endParaRPr lang="en-NL"/>
        </a:p>
      </dgm:t>
    </dgm:pt>
    <dgm:pt modelId="{7735AB31-62AB-4221-A127-FDD327E5F167}" type="sibTrans" cxnId="{06BA9528-8E45-45AE-BBD7-641E50D4EDC4}">
      <dgm:prSet/>
      <dgm:spPr/>
      <dgm:t>
        <a:bodyPr/>
        <a:lstStyle/>
        <a:p>
          <a:endParaRPr lang="en-NL"/>
        </a:p>
      </dgm:t>
    </dgm:pt>
    <dgm:pt modelId="{42508249-CB23-4C29-BA91-0FBF4F3FC221}" type="pres">
      <dgm:prSet presAssocID="{06F0D2AA-5727-47E4-885B-0AD7C69408FC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24485D02-5A56-49DF-B637-A9A8AC67D4E6}" type="pres">
      <dgm:prSet presAssocID="{9CB5A71A-0CED-471E-A2E8-29F4D481FAEA}" presName="parentText1" presStyleLbl="node1" presStyleIdx="0" presStyleCnt="3">
        <dgm:presLayoutVars>
          <dgm:chMax/>
          <dgm:chPref val="3"/>
          <dgm:bulletEnabled val="1"/>
        </dgm:presLayoutVars>
      </dgm:prSet>
      <dgm:spPr/>
    </dgm:pt>
    <dgm:pt modelId="{973DC0CC-8304-4E03-87B5-BD1B67011B8C}" type="pres">
      <dgm:prSet presAssocID="{9CB5A71A-0CED-471E-A2E8-29F4D481FAEA}" presName="childText1" presStyleLbl="solidAlignAcc1" presStyleIdx="0" presStyleCnt="3">
        <dgm:presLayoutVars>
          <dgm:chMax val="0"/>
          <dgm:chPref val="0"/>
          <dgm:bulletEnabled val="1"/>
        </dgm:presLayoutVars>
      </dgm:prSet>
      <dgm:spPr/>
    </dgm:pt>
    <dgm:pt modelId="{88F0906B-9D1E-488A-B4C5-08CAAB191724}" type="pres">
      <dgm:prSet presAssocID="{928B3A8B-099C-4245-81CD-ABCA14C50A5E}" presName="parentText2" presStyleLbl="node1" presStyleIdx="1" presStyleCnt="3">
        <dgm:presLayoutVars>
          <dgm:chMax/>
          <dgm:chPref val="3"/>
          <dgm:bulletEnabled val="1"/>
        </dgm:presLayoutVars>
      </dgm:prSet>
      <dgm:spPr/>
    </dgm:pt>
    <dgm:pt modelId="{CF98FD1A-AABC-4833-9CC8-F5ECB925415E}" type="pres">
      <dgm:prSet presAssocID="{928B3A8B-099C-4245-81CD-ABCA14C50A5E}" presName="childText2" presStyleLbl="solidAlignAcc1" presStyleIdx="1" presStyleCnt="3">
        <dgm:presLayoutVars>
          <dgm:chMax val="0"/>
          <dgm:chPref val="0"/>
          <dgm:bulletEnabled val="1"/>
        </dgm:presLayoutVars>
      </dgm:prSet>
      <dgm:spPr/>
    </dgm:pt>
    <dgm:pt modelId="{F9AE15FA-8263-4E7F-B6DC-79DA0B2F7B75}" type="pres">
      <dgm:prSet presAssocID="{028DA142-C92D-45B3-9714-986F7A2F73F8}" presName="parentText3" presStyleLbl="node1" presStyleIdx="2" presStyleCnt="3">
        <dgm:presLayoutVars>
          <dgm:chMax/>
          <dgm:chPref val="3"/>
          <dgm:bulletEnabled val="1"/>
        </dgm:presLayoutVars>
      </dgm:prSet>
      <dgm:spPr/>
    </dgm:pt>
    <dgm:pt modelId="{A1C7FE50-A7A9-4DCF-9D2D-0D9BE2138934}" type="pres">
      <dgm:prSet presAssocID="{028DA142-C92D-45B3-9714-986F7A2F73F8}" presName="childText3" presStyleLbl="solidAlignAcc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6BA9528-8E45-45AE-BBD7-641E50D4EDC4}" srcId="{028DA142-C92D-45B3-9714-986F7A2F73F8}" destId="{918F5F83-4066-4A9A-86C5-4CC17D51FEFC}" srcOrd="0" destOrd="0" parTransId="{436780E1-0300-4F9C-ABD2-5DD30867CFE3}" sibTransId="{7735AB31-62AB-4221-A127-FDD327E5F167}"/>
    <dgm:cxn modelId="{B43C454E-3E7D-418C-B0B3-46BB9188DC69}" type="presOf" srcId="{928B3A8B-099C-4245-81CD-ABCA14C50A5E}" destId="{88F0906B-9D1E-488A-B4C5-08CAAB191724}" srcOrd="0" destOrd="0" presId="urn:microsoft.com/office/officeart/2009/3/layout/IncreasingArrowsProcess"/>
    <dgm:cxn modelId="{047E2F73-5612-4C2A-8B14-DCF661A7E1D3}" srcId="{06F0D2AA-5727-47E4-885B-0AD7C69408FC}" destId="{9CB5A71A-0CED-471E-A2E8-29F4D481FAEA}" srcOrd="0" destOrd="0" parTransId="{FBACFB23-C58D-4779-B739-6842A01D4026}" sibTransId="{14C68E61-B304-4EB7-A8E3-AD04A07138C0}"/>
    <dgm:cxn modelId="{62229B98-8AE5-44B5-AEBD-C20099DE724D}" type="presOf" srcId="{9CB5A71A-0CED-471E-A2E8-29F4D481FAEA}" destId="{24485D02-5A56-49DF-B637-A9A8AC67D4E6}" srcOrd="0" destOrd="0" presId="urn:microsoft.com/office/officeart/2009/3/layout/IncreasingArrowsProcess"/>
    <dgm:cxn modelId="{F747FAA5-AFF3-44E6-9D75-D457C0CFBAE4}" type="presOf" srcId="{028DA142-C92D-45B3-9714-986F7A2F73F8}" destId="{F9AE15FA-8263-4E7F-B6DC-79DA0B2F7B75}" srcOrd="0" destOrd="0" presId="urn:microsoft.com/office/officeart/2009/3/layout/IncreasingArrowsProcess"/>
    <dgm:cxn modelId="{186410B0-56AA-485D-8661-966F58E6C0D9}" srcId="{928B3A8B-099C-4245-81CD-ABCA14C50A5E}" destId="{DA319F0F-473C-4E9A-8E38-C39EA20CA45C}" srcOrd="0" destOrd="0" parTransId="{B6681FC6-732F-4940-AB00-A705160479F5}" sibTransId="{3288B630-77A4-4303-B46A-8295D57981F0}"/>
    <dgm:cxn modelId="{63928ABD-C46A-4BFE-9D2D-329F914A7672}" srcId="{06F0D2AA-5727-47E4-885B-0AD7C69408FC}" destId="{928B3A8B-099C-4245-81CD-ABCA14C50A5E}" srcOrd="1" destOrd="0" parTransId="{B1AE77A9-9E35-43DD-8B99-95F9034E28E2}" sibTransId="{D46E7F58-DAE3-46EA-A7A3-D1FC271B400C}"/>
    <dgm:cxn modelId="{0A6B94BF-4993-46D3-9476-5ABA78086C1D}" srcId="{06F0D2AA-5727-47E4-885B-0AD7C69408FC}" destId="{028DA142-C92D-45B3-9714-986F7A2F73F8}" srcOrd="2" destOrd="0" parTransId="{0DE8F76B-0C5C-4DB5-94C2-BC83DB023453}" sibTransId="{08E2E17B-C633-40F7-BF3F-903076414FB4}"/>
    <dgm:cxn modelId="{C4E538C3-BC2D-48D5-B1FC-EF63A807B039}" type="presOf" srcId="{918F5F83-4066-4A9A-86C5-4CC17D51FEFC}" destId="{A1C7FE50-A7A9-4DCF-9D2D-0D9BE2138934}" srcOrd="0" destOrd="0" presId="urn:microsoft.com/office/officeart/2009/3/layout/IncreasingArrowsProcess"/>
    <dgm:cxn modelId="{21736EC6-DF9E-4812-8885-8F99A279210D}" srcId="{9CB5A71A-0CED-471E-A2E8-29F4D481FAEA}" destId="{4344EF75-7F9E-4CEC-88BE-5267E73F6C26}" srcOrd="0" destOrd="0" parTransId="{4761A776-83AC-45F9-B980-CCF47FB439A6}" sibTransId="{2A1533C5-0809-4C32-A6A6-C3A810138ECE}"/>
    <dgm:cxn modelId="{7D0CCCCA-6063-4A99-BAE0-9C13FA6CE920}" type="presOf" srcId="{06F0D2AA-5727-47E4-885B-0AD7C69408FC}" destId="{42508249-CB23-4C29-BA91-0FBF4F3FC221}" srcOrd="0" destOrd="0" presId="urn:microsoft.com/office/officeart/2009/3/layout/IncreasingArrowsProcess"/>
    <dgm:cxn modelId="{BD6A3ECB-5B1F-4E3D-9ACB-C3849EFBD1BD}" type="presOf" srcId="{DA319F0F-473C-4E9A-8E38-C39EA20CA45C}" destId="{CF98FD1A-AABC-4833-9CC8-F5ECB925415E}" srcOrd="0" destOrd="0" presId="urn:microsoft.com/office/officeart/2009/3/layout/IncreasingArrowsProcess"/>
    <dgm:cxn modelId="{9D82A7E0-697A-492A-84CF-5FCD3D95668B}" type="presOf" srcId="{4344EF75-7F9E-4CEC-88BE-5267E73F6C26}" destId="{973DC0CC-8304-4E03-87B5-BD1B67011B8C}" srcOrd="0" destOrd="0" presId="urn:microsoft.com/office/officeart/2009/3/layout/IncreasingArrowsProcess"/>
    <dgm:cxn modelId="{A2C66D86-7A02-46D8-BE80-55FED7C877FD}" type="presParOf" srcId="{42508249-CB23-4C29-BA91-0FBF4F3FC221}" destId="{24485D02-5A56-49DF-B637-A9A8AC67D4E6}" srcOrd="0" destOrd="0" presId="urn:microsoft.com/office/officeart/2009/3/layout/IncreasingArrowsProcess"/>
    <dgm:cxn modelId="{697CC9F4-507C-4E3A-8FA6-5B31130609FD}" type="presParOf" srcId="{42508249-CB23-4C29-BA91-0FBF4F3FC221}" destId="{973DC0CC-8304-4E03-87B5-BD1B67011B8C}" srcOrd="1" destOrd="0" presId="urn:microsoft.com/office/officeart/2009/3/layout/IncreasingArrowsProcess"/>
    <dgm:cxn modelId="{9D506BAC-8566-441F-A638-9325952BDAFC}" type="presParOf" srcId="{42508249-CB23-4C29-BA91-0FBF4F3FC221}" destId="{88F0906B-9D1E-488A-B4C5-08CAAB191724}" srcOrd="2" destOrd="0" presId="urn:microsoft.com/office/officeart/2009/3/layout/IncreasingArrowsProcess"/>
    <dgm:cxn modelId="{E08349A5-0353-4C9E-91A6-357A61A8D518}" type="presParOf" srcId="{42508249-CB23-4C29-BA91-0FBF4F3FC221}" destId="{CF98FD1A-AABC-4833-9CC8-F5ECB925415E}" srcOrd="3" destOrd="0" presId="urn:microsoft.com/office/officeart/2009/3/layout/IncreasingArrowsProcess"/>
    <dgm:cxn modelId="{A7BB57EB-A38D-4276-BCED-684F1223C668}" type="presParOf" srcId="{42508249-CB23-4C29-BA91-0FBF4F3FC221}" destId="{F9AE15FA-8263-4E7F-B6DC-79DA0B2F7B75}" srcOrd="4" destOrd="0" presId="urn:microsoft.com/office/officeart/2009/3/layout/IncreasingArrowsProcess"/>
    <dgm:cxn modelId="{479950C8-AF5C-4106-992A-1C66634BB90B}" type="presParOf" srcId="{42508249-CB23-4C29-BA91-0FBF4F3FC221}" destId="{A1C7FE50-A7A9-4DCF-9D2D-0D9BE2138934}" srcOrd="5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Isolate you back-end server(s) from the database</a:t>
          </a:r>
          <a:r>
            <a:rPr lang="en-NL" sz="1400" kern="1200" dirty="0"/>
            <a:t>​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0" y="0"/>
        <a:ext cx="2587153" cy="985114"/>
      </dsp:txXfrm>
    </dsp:sp>
    <dsp:sp modelId="{5C90C3CA-0AA3-4EBE-B50C-5D1938624D21}">
      <dsp:nvSpPr>
        <dsp:cNvPr id="0" name=""/>
        <dsp:cNvSpPr/>
      </dsp:nvSpPr>
      <dsp:spPr>
        <a:xfrm>
          <a:off x="0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85114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Focus M development on database procedures</a:t>
          </a:r>
        </a:p>
      </dsp:txBody>
      <dsp:txXfrm>
        <a:off x="2845869" y="0"/>
        <a:ext cx="2587153" cy="985114"/>
      </dsp:txXfrm>
    </dsp:sp>
    <dsp:sp modelId="{8BB355F9-6CC2-4480-9B7E-D892D65FD34C}">
      <dsp:nvSpPr>
        <dsp:cNvPr id="0" name=""/>
        <dsp:cNvSpPr/>
      </dsp:nvSpPr>
      <dsp:spPr>
        <a:xfrm>
          <a:off x="2845869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85114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Execute your MUMPS code remotely from multiple languages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5691738" y="0"/>
        <a:ext cx="2587153" cy="985114"/>
      </dsp:txXfrm>
    </dsp:sp>
    <dsp:sp modelId="{6BD7537A-36A9-42F0-9C36-0D4BA2D0752A}">
      <dsp:nvSpPr>
        <dsp:cNvPr id="0" name=""/>
        <dsp:cNvSpPr/>
      </dsp:nvSpPr>
      <dsp:spPr>
        <a:xfrm>
          <a:off x="5691738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 will be available</a:t>
          </a:r>
        </a:p>
      </dsp:txBody>
      <dsp:txXfrm>
        <a:off x="5691738" y="985114"/>
        <a:ext cx="2587153" cy="22385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Easy to install,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Simple to run…</a:t>
          </a:r>
        </a:p>
      </dsp:txBody>
      <dsp:txXfrm>
        <a:off x="0" y="0"/>
        <a:ext cx="1924195" cy="645271"/>
      </dsp:txXfrm>
    </dsp:sp>
    <dsp:sp modelId="{5C90C3CA-0AA3-4EBE-B50C-5D1938624D21}">
      <dsp:nvSpPr>
        <dsp:cNvPr id="0" name=""/>
        <dsp:cNvSpPr/>
      </dsp:nvSpPr>
      <dsp:spPr>
        <a:xfrm>
          <a:off x="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MIND Server gets installed as standard YottaDB plugin on top of your YottaDB installation with a one-liner command.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then either run it directly of configure it using the .conf file or command line switches.</a:t>
          </a:r>
        </a:p>
      </dsp:txBody>
      <dsp:txXfrm>
        <a:off x="0" y="645271"/>
        <a:ext cx="1924195" cy="2503747"/>
      </dsp:txXfrm>
    </dsp:sp>
    <dsp:sp modelId="{58CF0B87-5490-46B7-A456-64A277CB332C}">
      <dsp:nvSpPr>
        <dsp:cNvPr id="0" name=""/>
        <dsp:cNvSpPr/>
      </dsp:nvSpPr>
      <dsp:spPr>
        <a:xfrm>
          <a:off x="211661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Designed putting both MUMPS and back-end developers first</a:t>
          </a:r>
        </a:p>
      </dsp:txBody>
      <dsp:txXfrm>
        <a:off x="2116615" y="0"/>
        <a:ext cx="1924195" cy="645271"/>
      </dsp:txXfrm>
    </dsp:sp>
    <dsp:sp modelId="{8BB355F9-6CC2-4480-9B7E-D892D65FD34C}">
      <dsp:nvSpPr>
        <dsp:cNvPr id="0" name=""/>
        <dsp:cNvSpPr/>
      </dsp:nvSpPr>
      <dsp:spPr>
        <a:xfrm>
          <a:off x="2116615" y="734955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And, of course, we support JSON in both directions.</a:t>
          </a:r>
        </a:p>
      </dsp:txBody>
      <dsp:txXfrm>
        <a:off x="2116615" y="734955"/>
        <a:ext cx="1924195" cy="2503747"/>
      </dsp:txXfrm>
    </dsp:sp>
    <dsp:sp modelId="{E38D88DE-6630-449F-B815-64F25EB69547}">
      <dsp:nvSpPr>
        <dsp:cNvPr id="0" name=""/>
        <dsp:cNvSpPr/>
      </dsp:nvSpPr>
      <dsp:spPr>
        <a:xfrm>
          <a:off x="423323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ZERO coding needed in the client (back-end) driver.</a:t>
          </a:r>
        </a:p>
      </dsp:txBody>
      <dsp:txXfrm>
        <a:off x="4233230" y="0"/>
        <a:ext cx="1924195" cy="645271"/>
      </dsp:txXfrm>
    </dsp:sp>
    <dsp:sp modelId="{6BD7537A-36A9-42F0-9C36-0D4BA2D0752A}">
      <dsp:nvSpPr>
        <dsp:cNvPr id="0" name=""/>
        <dsp:cNvSpPr/>
      </dsp:nvSpPr>
      <dsp:spPr>
        <a:xfrm>
          <a:off x="423323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Additionally, automatic  validation of the supplied parameters is performed with no code needed.</a:t>
          </a:r>
        </a:p>
      </dsp:txBody>
      <dsp:txXfrm>
        <a:off x="4233230" y="645271"/>
        <a:ext cx="1924195" cy="2503747"/>
      </dsp:txXfrm>
    </dsp:sp>
    <dsp:sp modelId="{76448584-D501-4333-884C-F960C3FAA9BE}">
      <dsp:nvSpPr>
        <dsp:cNvPr id="0" name=""/>
        <dsp:cNvSpPr/>
      </dsp:nvSpPr>
      <dsp:spPr>
        <a:xfrm>
          <a:off x="634984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Support your existing M code right away</a:t>
          </a:r>
          <a:endParaRPr lang="en-NL" sz="1300" kern="1200" dirty="0"/>
        </a:p>
      </dsp:txBody>
      <dsp:txXfrm>
        <a:off x="6349845" y="0"/>
        <a:ext cx="1924195" cy="645271"/>
      </dsp:txXfrm>
    </dsp:sp>
    <dsp:sp modelId="{9925560B-C3AD-44BD-A1A3-25292C97D5DC}">
      <dsp:nvSpPr>
        <dsp:cNvPr id="0" name=""/>
        <dsp:cNvSpPr/>
      </dsp:nvSpPr>
      <dsp:spPr>
        <a:xfrm>
          <a:off x="6349845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call your existing code directly, specifying parameters and (eventual) return value.</a:t>
          </a:r>
          <a:endParaRPr lang="en-NL" sz="1200" kern="1200" dirty="0"/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code in the JSON file, it is available in the client right away</a:t>
          </a:r>
          <a:endParaRPr lang="en-NL" sz="1200" kern="1200" dirty="0"/>
        </a:p>
      </dsp:txBody>
      <dsp:txXfrm>
        <a:off x="6349845" y="645271"/>
        <a:ext cx="1924195" cy="2503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5D02-5A56-49DF-B637-A9A8AC67D4E6}">
      <dsp:nvSpPr>
        <dsp:cNvPr id="0" name=""/>
        <dsp:cNvSpPr/>
      </dsp:nvSpPr>
      <dsp:spPr>
        <a:xfrm>
          <a:off x="460192" y="10229"/>
          <a:ext cx="9095498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</a:t>
          </a:r>
          <a:endParaRPr lang="en-NL" sz="2500" kern="1200" dirty="0"/>
        </a:p>
      </dsp:txBody>
      <dsp:txXfrm>
        <a:off x="460192" y="341392"/>
        <a:ext cx="8764335" cy="662325"/>
      </dsp:txXfrm>
    </dsp:sp>
    <dsp:sp modelId="{973DC0CC-8304-4E03-87B5-BD1B67011B8C}">
      <dsp:nvSpPr>
        <dsp:cNvPr id="0" name=""/>
        <dsp:cNvSpPr/>
      </dsp:nvSpPr>
      <dsp:spPr>
        <a:xfrm>
          <a:off x="460192" y="1031726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 your method in a JSON file and restart the Mind server.</a:t>
          </a:r>
          <a:endParaRPr lang="en-NL" sz="2500" kern="1200" dirty="0"/>
        </a:p>
      </dsp:txBody>
      <dsp:txXfrm>
        <a:off x="460192" y="1031726"/>
        <a:ext cx="2801413" cy="2551765"/>
      </dsp:txXfrm>
    </dsp:sp>
    <dsp:sp modelId="{88F0906B-9D1E-488A-B4C5-08CAAB191724}">
      <dsp:nvSpPr>
        <dsp:cNvPr id="0" name=""/>
        <dsp:cNvSpPr/>
      </dsp:nvSpPr>
      <dsp:spPr>
        <a:xfrm>
          <a:off x="3261605" y="451780"/>
          <a:ext cx="6294084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CODE</a:t>
          </a:r>
          <a:endParaRPr lang="en-NL" sz="2500" kern="1200" dirty="0"/>
        </a:p>
      </dsp:txBody>
      <dsp:txXfrm>
        <a:off x="3261605" y="782943"/>
        <a:ext cx="5962921" cy="662325"/>
      </dsp:txXfrm>
    </dsp:sp>
    <dsp:sp modelId="{CF98FD1A-AABC-4833-9CC8-F5ECB925415E}">
      <dsp:nvSpPr>
        <dsp:cNvPr id="0" name=""/>
        <dsp:cNvSpPr/>
      </dsp:nvSpPr>
      <dsp:spPr>
        <a:xfrm>
          <a:off x="3261605" y="1473277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Write M code or simply re-use your Legacy code.</a:t>
          </a:r>
          <a:endParaRPr lang="en-NL" sz="2500" kern="1200" dirty="0"/>
        </a:p>
      </dsp:txBody>
      <dsp:txXfrm>
        <a:off x="3261605" y="1473277"/>
        <a:ext cx="2801413" cy="2551765"/>
      </dsp:txXfrm>
    </dsp:sp>
    <dsp:sp modelId="{F9AE15FA-8263-4E7F-B6DC-79DA0B2F7B75}">
      <dsp:nvSpPr>
        <dsp:cNvPr id="0" name=""/>
        <dsp:cNvSpPr/>
      </dsp:nvSpPr>
      <dsp:spPr>
        <a:xfrm>
          <a:off x="6063019" y="893330"/>
          <a:ext cx="3492671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EXECUTE</a:t>
          </a:r>
          <a:endParaRPr lang="en-NL" sz="2500" kern="1200" dirty="0"/>
        </a:p>
      </dsp:txBody>
      <dsp:txXfrm>
        <a:off x="6063019" y="1224493"/>
        <a:ext cx="3161508" cy="662325"/>
      </dsp:txXfrm>
    </dsp:sp>
    <dsp:sp modelId="{A1C7FE50-A7A9-4DCF-9D2D-0D9BE2138934}">
      <dsp:nvSpPr>
        <dsp:cNvPr id="0" name=""/>
        <dsp:cNvSpPr/>
      </dsp:nvSpPr>
      <dsp:spPr>
        <a:xfrm>
          <a:off x="6063019" y="1914827"/>
          <a:ext cx="2801413" cy="25144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You can call the method right away, which will execute the M code and return data</a:t>
          </a:r>
          <a:endParaRPr lang="en-NL" sz="2500" kern="1200" dirty="0"/>
        </a:p>
      </dsp:txBody>
      <dsp:txXfrm>
        <a:off x="6063019" y="1914827"/>
        <a:ext cx="2801413" cy="2514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04/03/2026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MUMPS RPC FRAMEWORK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37CCA-BB4E-7F14-1B1F-C54470D3A2E7}"/>
              </a:ext>
            </a:extLst>
          </p:cNvPr>
          <p:cNvSpPr txBox="1"/>
          <p:nvPr/>
        </p:nvSpPr>
        <p:spPr>
          <a:xfrm>
            <a:off x="746490" y="5778315"/>
            <a:ext cx="174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DnaSoft</a:t>
            </a:r>
            <a:r>
              <a:rPr lang="en-US" dirty="0">
                <a:solidFill>
                  <a:schemeClr val="bg1"/>
                </a:solidFill>
              </a:rPr>
              <a:t> B.V.</a:t>
            </a:r>
            <a:endParaRPr lang="en-NL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monolithic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remote access, but I can understand that it is not easy to find the right compromise talking to remote servers with foreign programming languages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73CC-7ECC-7075-0FFC-14EB9A73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026E-8CEF-8EBE-7D93-0A0EE6BAB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6879-A4B1-89EF-4659-2698C75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Talks M to M programmers and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“standard” formats (data-types, Objects) for smoother integration</a:t>
            </a:r>
          </a:p>
          <a:p>
            <a:r>
              <a:rPr lang="en-US" dirty="0"/>
              <a:t>It is the natural “remote extension” of the multi-language packages YottaDB already offers…</a:t>
            </a:r>
          </a:p>
          <a:p>
            <a:r>
              <a:rPr lang="en-US" dirty="0"/>
              <a:t>It removes the need to have ALL the client’s code running on the database server, which is now the case (and, in some situation, a limitation for potential customers)</a:t>
            </a:r>
          </a:p>
        </p:txBody>
      </p:sp>
    </p:spTree>
    <p:extLst>
      <p:ext uri="{BB962C8B-B14F-4D97-AF65-F5344CB8AC3E}">
        <p14:creationId xmlns:p14="http://schemas.microsoft.com/office/powerpoint/2010/main" val="300570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33442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58346" y="5112356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API</a:t>
            </a:r>
            <a:endParaRPr lang="en-NL" dirty="0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3C09524-0BFC-9A22-794B-436AC536DD53}"/>
              </a:ext>
            </a:extLst>
          </p:cNvPr>
          <p:cNvSpPr/>
          <p:nvPr/>
        </p:nvSpPr>
        <p:spPr>
          <a:xfrm>
            <a:off x="9750535" y="1243211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existing code</a:t>
            </a:r>
            <a:endParaRPr lang="en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C59F9E8-B7AE-1E48-4210-88A331AC1AEB}"/>
              </a:ext>
            </a:extLst>
          </p:cNvPr>
          <p:cNvSpPr/>
          <p:nvPr/>
        </p:nvSpPr>
        <p:spPr>
          <a:xfrm>
            <a:off x="9634330" y="3160643"/>
            <a:ext cx="1013792" cy="199559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M code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A44FCD-D24B-A718-3676-45AFDA510AE7}"/>
              </a:ext>
            </a:extLst>
          </p:cNvPr>
          <p:cNvSpPr/>
          <p:nvPr/>
        </p:nvSpPr>
        <p:spPr>
          <a:xfrm>
            <a:off x="1358346" y="3011887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7FC178-18C2-C49F-A789-6C4B560B10D6}"/>
              </a:ext>
            </a:extLst>
          </p:cNvPr>
          <p:cNvSpPr/>
          <p:nvPr/>
        </p:nvSpPr>
        <p:spPr>
          <a:xfrm>
            <a:off x="1338465" y="402965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4411832" y="399884"/>
            <a:ext cx="1252331" cy="1701016"/>
          </a:xfrm>
          <a:prstGeom prst="wedgeRoundRectCallout">
            <a:avLst>
              <a:gd name="adj1" fmla="val -208408"/>
              <a:gd name="adj2" fmla="val 105134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7" grpId="0"/>
      <p:bldP spid="14" grpId="0" animBg="1"/>
      <p:bldP spid="3" grpId="0" animBg="1"/>
      <p:bldP spid="13" grpId="0" animBg="1"/>
      <p:bldP spid="20" grpId="0" animBg="1"/>
      <p:bldP spid="21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352354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38FE-D592-6E73-C864-BC346F3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and execute M code in 3 minutes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0FBF0F-89D4-2852-1FC1-C4E591267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1595119"/>
              </p:ext>
            </p:extLst>
          </p:nvPr>
        </p:nvGraphicFramePr>
        <p:xfrm>
          <a:off x="1155700" y="2173357"/>
          <a:ext cx="10015883" cy="4439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1963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5378368" cy="34163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Create a hierarchical tree structure to group your methods and properties</a:t>
            </a:r>
          </a:p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your (optional) return value data-type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values (available in several data-types) that will appear as “properties” in the tree structure</a:t>
            </a:r>
            <a:endParaRPr lang="en-N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2560FA-D63D-BFE0-834D-AE07414AE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641" y="2580795"/>
            <a:ext cx="4572638" cy="3439005"/>
          </a:xfrm>
          <a:prstGeom prst="rect">
            <a:avLst/>
          </a:prstGeom>
          <a:effectLst>
            <a:softEdge rad="76200"/>
          </a:effectLst>
        </p:spPr>
      </p:pic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F3D6-9CF4-AB0F-7C86-99C919DD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still have full remote access to YDB and server / process resources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E1B68-CFBA-9041-161A-56428EE83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Built-in objects in the client allow direct access to the following:</a:t>
            </a:r>
          </a:p>
          <a:p>
            <a:pPr lvl="1"/>
            <a:r>
              <a:rPr lang="en-US" dirty="0"/>
              <a:t>Globals</a:t>
            </a:r>
          </a:p>
          <a:p>
            <a:pPr lvl="1"/>
            <a:r>
              <a:rPr lang="en-US" dirty="0"/>
              <a:t>Vars</a:t>
            </a:r>
          </a:p>
          <a:p>
            <a:pPr lvl="1"/>
            <a:r>
              <a:rPr lang="en-US" dirty="0"/>
              <a:t>File system</a:t>
            </a:r>
          </a:p>
          <a:p>
            <a:pPr lvl="1"/>
            <a:r>
              <a:rPr lang="en-US" dirty="0"/>
              <a:t>Process</a:t>
            </a:r>
          </a:p>
          <a:p>
            <a:pPr lvl="1"/>
            <a:r>
              <a:rPr lang="en-US" dirty="0"/>
              <a:t>Server</a:t>
            </a:r>
          </a:p>
          <a:p>
            <a:r>
              <a:rPr lang="en-US" dirty="0"/>
              <a:t>The client-side methods follow the client language naming, syntax and conventions, making the life easy to back-end programmers</a:t>
            </a:r>
          </a:p>
        </p:txBody>
      </p:sp>
    </p:spTree>
    <p:extLst>
      <p:ext uri="{BB962C8B-B14F-4D97-AF65-F5344CB8AC3E}">
        <p14:creationId xmlns:p14="http://schemas.microsoft.com/office/powerpoint/2010/main" val="1643443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8FF1B-F9AC-D8C7-D9EF-A0FC34AD1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Designed for programmers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8B97-6A21-F842-82B1-F8FFAB38D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We expose a wide range of tools to help you debug problems and improve performances:</a:t>
            </a:r>
          </a:p>
          <a:p>
            <a:pPr lvl="1"/>
            <a:r>
              <a:rPr lang="en-US" dirty="0"/>
              <a:t>Dump the request</a:t>
            </a:r>
          </a:p>
          <a:p>
            <a:pPr lvl="1"/>
            <a:r>
              <a:rPr lang="en-US" dirty="0"/>
              <a:t>Dump the response</a:t>
            </a:r>
          </a:p>
          <a:p>
            <a:pPr lvl="1"/>
            <a:r>
              <a:rPr lang="en-US" dirty="0"/>
              <a:t>Dump the timing in microseconds</a:t>
            </a:r>
          </a:p>
          <a:p>
            <a:pPr lvl="1"/>
            <a:r>
              <a:rPr lang="en-US" dirty="0"/>
              <a:t>Add custom log messages in the server console, also in colors (to stand out) for debugging purposes</a:t>
            </a:r>
          </a:p>
          <a:p>
            <a:pPr lvl="1"/>
            <a:r>
              <a:rPr lang="en-US" dirty="0"/>
              <a:t>Auto-generated methods description and signature on the client, to speed up development </a:t>
            </a:r>
            <a:r>
              <a:rPr lang="en-US"/>
              <a:t>and debugging</a:t>
            </a:r>
            <a:endParaRPr lang="en-US" dirty="0"/>
          </a:p>
          <a:p>
            <a:r>
              <a:rPr lang="en-US" dirty="0"/>
              <a:t>RESP3 libraries in both client and server, to bypass the framework and make manual calls to the framework</a:t>
            </a:r>
          </a:p>
          <a:p>
            <a:r>
              <a:rPr lang="en-US" dirty="0"/>
              <a:t>Built-in objects, to perform pre-compiled disk, variables, globals and process utilities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6332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F876-DA93-1729-16F9-4679C8BBE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in for the 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36BA7-2755-5F52-756F-939E758F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DBMS class </a:t>
            </a:r>
          </a:p>
          <a:p>
            <a:pPr lvl="1"/>
            <a:r>
              <a:rPr lang="en-US" dirty="0"/>
              <a:t>will expose a JSON / Object database</a:t>
            </a:r>
          </a:p>
          <a:p>
            <a:pPr lvl="1"/>
            <a:r>
              <a:rPr lang="en-US" dirty="0"/>
              <a:t>It will allow tables linking in a similar way Fileman does</a:t>
            </a:r>
          </a:p>
          <a:p>
            <a:pPr lvl="1"/>
            <a:r>
              <a:rPr lang="en-US" dirty="0"/>
              <a:t>It will support deep-indexing (indexes of fields deep into object props and arrays)</a:t>
            </a:r>
          </a:p>
          <a:p>
            <a:pPr lvl="1"/>
            <a:r>
              <a:rPr lang="en-US" dirty="0"/>
              <a:t>It will use the client-side to execute commands directly</a:t>
            </a:r>
          </a:p>
          <a:p>
            <a:r>
              <a:rPr lang="en-US" dirty="0"/>
              <a:t>The DB class:</a:t>
            </a:r>
          </a:p>
          <a:p>
            <a:pPr lvl="1"/>
            <a:r>
              <a:rPr lang="en-US" dirty="0"/>
              <a:t>Will expose an advanced global search (using the ZWRITE call from the GUI that allows:</a:t>
            </a:r>
          </a:p>
          <a:p>
            <a:pPr lvl="2"/>
            <a:r>
              <a:rPr lang="en-US" dirty="0"/>
              <a:t>Ranges on subscripts</a:t>
            </a:r>
          </a:p>
          <a:p>
            <a:pPr lvl="2"/>
            <a:r>
              <a:rPr lang="en-US" dirty="0"/>
              <a:t>Search backwards (still using ranges)</a:t>
            </a:r>
          </a:p>
          <a:p>
            <a:pPr lvl="2"/>
            <a:r>
              <a:rPr lang="en-US" dirty="0"/>
              <a:t>Directly supports lazy-fetching (needed for large global)</a:t>
            </a:r>
          </a:p>
          <a:p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45671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</TotalTime>
  <Words>1016</Words>
  <Application>Microsoft Office PowerPoint</Application>
  <PresentationFormat>Widescreen</PresentationFormat>
  <Paragraphs>114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Ion Boardroom</vt:lpstr>
      <vt:lpstr>MIND for YottaDB</vt:lpstr>
      <vt:lpstr>Private comment</vt:lpstr>
      <vt:lpstr>Private comment</vt:lpstr>
      <vt:lpstr>Streamline MUMPS API development with no worries</vt:lpstr>
      <vt:lpstr>Distributed architecture</vt:lpstr>
      <vt:lpstr>Architecture</vt:lpstr>
      <vt:lpstr>Up and running in no time</vt:lpstr>
      <vt:lpstr>Create and execute M code in 3 minutes</vt:lpstr>
      <vt:lpstr>All you need is JSON to describe your API</vt:lpstr>
      <vt:lpstr>Can still have full remote access to YDB and server / process resources</vt:lpstr>
      <vt:lpstr>Designed for programmers</vt:lpstr>
      <vt:lpstr>What’s in for the future</vt:lpstr>
      <vt:lpstr>RESP3 as network protocol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25</cp:revision>
  <dcterms:created xsi:type="dcterms:W3CDTF">2026-02-21T16:55:37Z</dcterms:created>
  <dcterms:modified xsi:type="dcterms:W3CDTF">2026-03-04T11:55:10Z</dcterms:modified>
</cp:coreProperties>
</file>