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8" r:id="rId3"/>
    <p:sldId id="264" r:id="rId4"/>
    <p:sldId id="259" r:id="rId5"/>
    <p:sldId id="257" r:id="rId6"/>
    <p:sldId id="267" r:id="rId7"/>
    <p:sldId id="266" r:id="rId8"/>
    <p:sldId id="263" r:id="rId9"/>
    <p:sldId id="260" r:id="rId10"/>
    <p:sldId id="268" r:id="rId11"/>
    <p:sldId id="261" r:id="rId12"/>
    <p:sldId id="262" r:id="rId13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from multiple languages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endParaRPr lang="en-US" dirty="0"/>
        </a:p>
        <a:p>
          <a:pPr>
            <a:lnSpc>
              <a:spcPct val="100000"/>
            </a:lnSpc>
          </a:pPr>
          <a:r>
            <a:rPr lang="en-US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dirty="0"/>
            <a:t>Soon Java, Go and .NET drivers will be available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automatic  validation of the supplied parameters is performed with no code needed.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F0D2AA-5727-47E4-885B-0AD7C69408FC}" type="doc">
      <dgm:prSet loTypeId="urn:microsoft.com/office/officeart/2009/3/layout/IncreasingArrows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NL"/>
        </a:p>
      </dgm:t>
    </dgm:pt>
    <dgm:pt modelId="{9CB5A71A-0CED-471E-A2E8-29F4D481FAEA}">
      <dgm:prSet phldrT="[Text]"/>
      <dgm:spPr/>
      <dgm:t>
        <a:bodyPr/>
        <a:lstStyle/>
        <a:p>
          <a:r>
            <a:rPr lang="en-US" dirty="0"/>
            <a:t>DESCRIBE</a:t>
          </a:r>
          <a:endParaRPr lang="en-NL" dirty="0"/>
        </a:p>
      </dgm:t>
    </dgm:pt>
    <dgm:pt modelId="{FBACFB23-C58D-4779-B739-6842A01D4026}" type="parTrans" cxnId="{047E2F73-5612-4C2A-8B14-DCF661A7E1D3}">
      <dgm:prSet/>
      <dgm:spPr/>
      <dgm:t>
        <a:bodyPr/>
        <a:lstStyle/>
        <a:p>
          <a:endParaRPr lang="en-NL"/>
        </a:p>
      </dgm:t>
    </dgm:pt>
    <dgm:pt modelId="{14C68E61-B304-4EB7-A8E3-AD04A07138C0}" type="sibTrans" cxnId="{047E2F73-5612-4C2A-8B14-DCF661A7E1D3}">
      <dgm:prSet/>
      <dgm:spPr/>
      <dgm:t>
        <a:bodyPr/>
        <a:lstStyle/>
        <a:p>
          <a:endParaRPr lang="en-NL"/>
        </a:p>
      </dgm:t>
    </dgm:pt>
    <dgm:pt modelId="{4344EF75-7F9E-4CEC-88BE-5267E73F6C26}">
      <dgm:prSet phldrT="[Text]" phldr="0"/>
      <dgm:spPr/>
      <dgm:t>
        <a:bodyPr/>
        <a:lstStyle/>
        <a:p>
          <a:r>
            <a:rPr lang="en-US" dirty="0"/>
            <a:t>Describe your method in a JSON file and restart the Mind server</a:t>
          </a:r>
          <a:endParaRPr lang="en-NL" dirty="0"/>
        </a:p>
      </dgm:t>
    </dgm:pt>
    <dgm:pt modelId="{4761A776-83AC-45F9-B980-CCF47FB439A6}" type="parTrans" cxnId="{21736EC6-DF9E-4812-8885-8F99A279210D}">
      <dgm:prSet/>
      <dgm:spPr/>
      <dgm:t>
        <a:bodyPr/>
        <a:lstStyle/>
        <a:p>
          <a:endParaRPr lang="en-NL"/>
        </a:p>
      </dgm:t>
    </dgm:pt>
    <dgm:pt modelId="{2A1533C5-0809-4C32-A6A6-C3A810138ECE}" type="sibTrans" cxnId="{21736EC6-DF9E-4812-8885-8F99A279210D}">
      <dgm:prSet/>
      <dgm:spPr/>
      <dgm:t>
        <a:bodyPr/>
        <a:lstStyle/>
        <a:p>
          <a:endParaRPr lang="en-NL"/>
        </a:p>
      </dgm:t>
    </dgm:pt>
    <dgm:pt modelId="{928B3A8B-099C-4245-81CD-ABCA14C50A5E}">
      <dgm:prSet phldrT="[Text]" phldr="0"/>
      <dgm:spPr/>
      <dgm:t>
        <a:bodyPr/>
        <a:lstStyle/>
        <a:p>
          <a:r>
            <a:rPr lang="en-US" dirty="0"/>
            <a:t>CODE</a:t>
          </a:r>
          <a:endParaRPr lang="en-NL" dirty="0"/>
        </a:p>
      </dgm:t>
    </dgm:pt>
    <dgm:pt modelId="{B1AE77A9-9E35-43DD-8B99-95F9034E28E2}" type="parTrans" cxnId="{63928ABD-C46A-4BFE-9D2D-329F914A7672}">
      <dgm:prSet/>
      <dgm:spPr/>
      <dgm:t>
        <a:bodyPr/>
        <a:lstStyle/>
        <a:p>
          <a:endParaRPr lang="en-NL"/>
        </a:p>
      </dgm:t>
    </dgm:pt>
    <dgm:pt modelId="{D46E7F58-DAE3-46EA-A7A3-D1FC271B400C}" type="sibTrans" cxnId="{63928ABD-C46A-4BFE-9D2D-329F914A7672}">
      <dgm:prSet/>
      <dgm:spPr/>
      <dgm:t>
        <a:bodyPr/>
        <a:lstStyle/>
        <a:p>
          <a:endParaRPr lang="en-NL"/>
        </a:p>
      </dgm:t>
    </dgm:pt>
    <dgm:pt modelId="{DA319F0F-473C-4E9A-8E38-C39EA20CA45C}">
      <dgm:prSet phldrT="[Text]" phldr="0"/>
      <dgm:spPr/>
      <dgm:t>
        <a:bodyPr/>
        <a:lstStyle/>
        <a:p>
          <a:r>
            <a:rPr lang="en-US" dirty="0"/>
            <a:t>Write M code, using our framework to read arguments and return formatted data</a:t>
          </a:r>
          <a:endParaRPr lang="en-NL" dirty="0"/>
        </a:p>
      </dgm:t>
    </dgm:pt>
    <dgm:pt modelId="{B6681FC6-732F-4940-AB00-A705160479F5}" type="parTrans" cxnId="{186410B0-56AA-485D-8661-966F58E6C0D9}">
      <dgm:prSet/>
      <dgm:spPr/>
      <dgm:t>
        <a:bodyPr/>
        <a:lstStyle/>
        <a:p>
          <a:endParaRPr lang="en-NL"/>
        </a:p>
      </dgm:t>
    </dgm:pt>
    <dgm:pt modelId="{3288B630-77A4-4303-B46A-8295D57981F0}" type="sibTrans" cxnId="{186410B0-56AA-485D-8661-966F58E6C0D9}">
      <dgm:prSet/>
      <dgm:spPr/>
      <dgm:t>
        <a:bodyPr/>
        <a:lstStyle/>
        <a:p>
          <a:endParaRPr lang="en-NL"/>
        </a:p>
      </dgm:t>
    </dgm:pt>
    <dgm:pt modelId="{028DA142-C92D-45B3-9714-986F7A2F73F8}">
      <dgm:prSet phldrT="[Text]" phldr="0"/>
      <dgm:spPr/>
      <dgm:t>
        <a:bodyPr/>
        <a:lstStyle/>
        <a:p>
          <a:r>
            <a:rPr lang="en-US" dirty="0"/>
            <a:t>EXECUTE</a:t>
          </a:r>
          <a:endParaRPr lang="en-NL" dirty="0"/>
        </a:p>
      </dgm:t>
    </dgm:pt>
    <dgm:pt modelId="{0DE8F76B-0C5C-4DB5-94C2-BC83DB023453}" type="parTrans" cxnId="{0A6B94BF-4993-46D3-9476-5ABA78086C1D}">
      <dgm:prSet/>
      <dgm:spPr/>
      <dgm:t>
        <a:bodyPr/>
        <a:lstStyle/>
        <a:p>
          <a:endParaRPr lang="en-NL"/>
        </a:p>
      </dgm:t>
    </dgm:pt>
    <dgm:pt modelId="{08E2E17B-C633-40F7-BF3F-903076414FB4}" type="sibTrans" cxnId="{0A6B94BF-4993-46D3-9476-5ABA78086C1D}">
      <dgm:prSet/>
      <dgm:spPr/>
      <dgm:t>
        <a:bodyPr/>
        <a:lstStyle/>
        <a:p>
          <a:endParaRPr lang="en-NL"/>
        </a:p>
      </dgm:t>
    </dgm:pt>
    <dgm:pt modelId="{918F5F83-4066-4A9A-86C5-4CC17D51FEFC}">
      <dgm:prSet phldrT="[Text]" phldr="0"/>
      <dgm:spPr/>
      <dgm:t>
        <a:bodyPr/>
        <a:lstStyle/>
        <a:p>
          <a:r>
            <a:rPr lang="en-US" dirty="0"/>
            <a:t>You can call the </a:t>
          </a:r>
          <a:r>
            <a:rPr lang="en-US" dirty="0" err="1"/>
            <a:t>mthod</a:t>
          </a:r>
          <a:r>
            <a:rPr lang="en-US" dirty="0"/>
            <a:t> right away, which will execute the M code and return data</a:t>
          </a:r>
          <a:endParaRPr lang="en-NL" dirty="0"/>
        </a:p>
      </dgm:t>
    </dgm:pt>
    <dgm:pt modelId="{436780E1-0300-4F9C-ABD2-5DD30867CFE3}" type="parTrans" cxnId="{06BA9528-8E45-45AE-BBD7-641E50D4EDC4}">
      <dgm:prSet/>
      <dgm:spPr/>
      <dgm:t>
        <a:bodyPr/>
        <a:lstStyle/>
        <a:p>
          <a:endParaRPr lang="en-NL"/>
        </a:p>
      </dgm:t>
    </dgm:pt>
    <dgm:pt modelId="{7735AB31-62AB-4221-A127-FDD327E5F167}" type="sibTrans" cxnId="{06BA9528-8E45-45AE-BBD7-641E50D4EDC4}">
      <dgm:prSet/>
      <dgm:spPr/>
      <dgm:t>
        <a:bodyPr/>
        <a:lstStyle/>
        <a:p>
          <a:endParaRPr lang="en-NL"/>
        </a:p>
      </dgm:t>
    </dgm:pt>
    <dgm:pt modelId="{42508249-CB23-4C29-BA91-0FBF4F3FC221}" type="pres">
      <dgm:prSet presAssocID="{06F0D2AA-5727-47E4-885B-0AD7C69408FC}" presName="Name0" presStyleCnt="0">
        <dgm:presLayoutVars>
          <dgm:chMax val="5"/>
          <dgm:chPref val="5"/>
          <dgm:dir/>
          <dgm:animLvl val="lvl"/>
        </dgm:presLayoutVars>
      </dgm:prSet>
      <dgm:spPr/>
    </dgm:pt>
    <dgm:pt modelId="{24485D02-5A56-49DF-B637-A9A8AC67D4E6}" type="pres">
      <dgm:prSet presAssocID="{9CB5A71A-0CED-471E-A2E8-29F4D481FAEA}" presName="parentText1" presStyleLbl="node1" presStyleIdx="0" presStyleCnt="3">
        <dgm:presLayoutVars>
          <dgm:chMax/>
          <dgm:chPref val="3"/>
          <dgm:bulletEnabled val="1"/>
        </dgm:presLayoutVars>
      </dgm:prSet>
      <dgm:spPr/>
    </dgm:pt>
    <dgm:pt modelId="{973DC0CC-8304-4E03-87B5-BD1B67011B8C}" type="pres">
      <dgm:prSet presAssocID="{9CB5A71A-0CED-471E-A2E8-29F4D481FAEA}" presName="childText1" presStyleLbl="solidAlignAcc1" presStyleIdx="0" presStyleCnt="3">
        <dgm:presLayoutVars>
          <dgm:chMax val="0"/>
          <dgm:chPref val="0"/>
          <dgm:bulletEnabled val="1"/>
        </dgm:presLayoutVars>
      </dgm:prSet>
      <dgm:spPr/>
    </dgm:pt>
    <dgm:pt modelId="{88F0906B-9D1E-488A-B4C5-08CAAB191724}" type="pres">
      <dgm:prSet presAssocID="{928B3A8B-099C-4245-81CD-ABCA14C50A5E}" presName="parentText2" presStyleLbl="node1" presStyleIdx="1" presStyleCnt="3">
        <dgm:presLayoutVars>
          <dgm:chMax/>
          <dgm:chPref val="3"/>
          <dgm:bulletEnabled val="1"/>
        </dgm:presLayoutVars>
      </dgm:prSet>
      <dgm:spPr/>
    </dgm:pt>
    <dgm:pt modelId="{CF98FD1A-AABC-4833-9CC8-F5ECB925415E}" type="pres">
      <dgm:prSet presAssocID="{928B3A8B-099C-4245-81CD-ABCA14C50A5E}" presName="childText2" presStyleLbl="solidAlignAcc1" presStyleIdx="1" presStyleCnt="3">
        <dgm:presLayoutVars>
          <dgm:chMax val="0"/>
          <dgm:chPref val="0"/>
          <dgm:bulletEnabled val="1"/>
        </dgm:presLayoutVars>
      </dgm:prSet>
      <dgm:spPr/>
    </dgm:pt>
    <dgm:pt modelId="{F9AE15FA-8263-4E7F-B6DC-79DA0B2F7B75}" type="pres">
      <dgm:prSet presAssocID="{028DA142-C92D-45B3-9714-986F7A2F73F8}" presName="parentText3" presStyleLbl="node1" presStyleIdx="2" presStyleCnt="3">
        <dgm:presLayoutVars>
          <dgm:chMax/>
          <dgm:chPref val="3"/>
          <dgm:bulletEnabled val="1"/>
        </dgm:presLayoutVars>
      </dgm:prSet>
      <dgm:spPr/>
    </dgm:pt>
    <dgm:pt modelId="{A1C7FE50-A7A9-4DCF-9D2D-0D9BE2138934}" type="pres">
      <dgm:prSet presAssocID="{028DA142-C92D-45B3-9714-986F7A2F73F8}" presName="childText3" presStyleLbl="solidAlignAcc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6BA9528-8E45-45AE-BBD7-641E50D4EDC4}" srcId="{028DA142-C92D-45B3-9714-986F7A2F73F8}" destId="{918F5F83-4066-4A9A-86C5-4CC17D51FEFC}" srcOrd="0" destOrd="0" parTransId="{436780E1-0300-4F9C-ABD2-5DD30867CFE3}" sibTransId="{7735AB31-62AB-4221-A127-FDD327E5F167}"/>
    <dgm:cxn modelId="{B43C454E-3E7D-418C-B0B3-46BB9188DC69}" type="presOf" srcId="{928B3A8B-099C-4245-81CD-ABCA14C50A5E}" destId="{88F0906B-9D1E-488A-B4C5-08CAAB191724}" srcOrd="0" destOrd="0" presId="urn:microsoft.com/office/officeart/2009/3/layout/IncreasingArrowsProcess"/>
    <dgm:cxn modelId="{047E2F73-5612-4C2A-8B14-DCF661A7E1D3}" srcId="{06F0D2AA-5727-47E4-885B-0AD7C69408FC}" destId="{9CB5A71A-0CED-471E-A2E8-29F4D481FAEA}" srcOrd="0" destOrd="0" parTransId="{FBACFB23-C58D-4779-B739-6842A01D4026}" sibTransId="{14C68E61-B304-4EB7-A8E3-AD04A07138C0}"/>
    <dgm:cxn modelId="{62229B98-8AE5-44B5-AEBD-C20099DE724D}" type="presOf" srcId="{9CB5A71A-0CED-471E-A2E8-29F4D481FAEA}" destId="{24485D02-5A56-49DF-B637-A9A8AC67D4E6}" srcOrd="0" destOrd="0" presId="urn:microsoft.com/office/officeart/2009/3/layout/IncreasingArrowsProcess"/>
    <dgm:cxn modelId="{F747FAA5-AFF3-44E6-9D75-D457C0CFBAE4}" type="presOf" srcId="{028DA142-C92D-45B3-9714-986F7A2F73F8}" destId="{F9AE15FA-8263-4E7F-B6DC-79DA0B2F7B75}" srcOrd="0" destOrd="0" presId="urn:microsoft.com/office/officeart/2009/3/layout/IncreasingArrowsProcess"/>
    <dgm:cxn modelId="{186410B0-56AA-485D-8661-966F58E6C0D9}" srcId="{928B3A8B-099C-4245-81CD-ABCA14C50A5E}" destId="{DA319F0F-473C-4E9A-8E38-C39EA20CA45C}" srcOrd="0" destOrd="0" parTransId="{B6681FC6-732F-4940-AB00-A705160479F5}" sibTransId="{3288B630-77A4-4303-B46A-8295D57981F0}"/>
    <dgm:cxn modelId="{63928ABD-C46A-4BFE-9D2D-329F914A7672}" srcId="{06F0D2AA-5727-47E4-885B-0AD7C69408FC}" destId="{928B3A8B-099C-4245-81CD-ABCA14C50A5E}" srcOrd="1" destOrd="0" parTransId="{B1AE77A9-9E35-43DD-8B99-95F9034E28E2}" sibTransId="{D46E7F58-DAE3-46EA-A7A3-D1FC271B400C}"/>
    <dgm:cxn modelId="{0A6B94BF-4993-46D3-9476-5ABA78086C1D}" srcId="{06F0D2AA-5727-47E4-885B-0AD7C69408FC}" destId="{028DA142-C92D-45B3-9714-986F7A2F73F8}" srcOrd="2" destOrd="0" parTransId="{0DE8F76B-0C5C-4DB5-94C2-BC83DB023453}" sibTransId="{08E2E17B-C633-40F7-BF3F-903076414FB4}"/>
    <dgm:cxn modelId="{C4E538C3-BC2D-48D5-B1FC-EF63A807B039}" type="presOf" srcId="{918F5F83-4066-4A9A-86C5-4CC17D51FEFC}" destId="{A1C7FE50-A7A9-4DCF-9D2D-0D9BE2138934}" srcOrd="0" destOrd="0" presId="urn:microsoft.com/office/officeart/2009/3/layout/IncreasingArrowsProcess"/>
    <dgm:cxn modelId="{21736EC6-DF9E-4812-8885-8F99A279210D}" srcId="{9CB5A71A-0CED-471E-A2E8-29F4D481FAEA}" destId="{4344EF75-7F9E-4CEC-88BE-5267E73F6C26}" srcOrd="0" destOrd="0" parTransId="{4761A776-83AC-45F9-B980-CCF47FB439A6}" sibTransId="{2A1533C5-0809-4C32-A6A6-C3A810138ECE}"/>
    <dgm:cxn modelId="{7D0CCCCA-6063-4A99-BAE0-9C13FA6CE920}" type="presOf" srcId="{06F0D2AA-5727-47E4-885B-0AD7C69408FC}" destId="{42508249-CB23-4C29-BA91-0FBF4F3FC221}" srcOrd="0" destOrd="0" presId="urn:microsoft.com/office/officeart/2009/3/layout/IncreasingArrowsProcess"/>
    <dgm:cxn modelId="{BD6A3ECB-5B1F-4E3D-9ACB-C3849EFBD1BD}" type="presOf" srcId="{DA319F0F-473C-4E9A-8E38-C39EA20CA45C}" destId="{CF98FD1A-AABC-4833-9CC8-F5ECB925415E}" srcOrd="0" destOrd="0" presId="urn:microsoft.com/office/officeart/2009/3/layout/IncreasingArrowsProcess"/>
    <dgm:cxn modelId="{9D82A7E0-697A-492A-84CF-5FCD3D95668B}" type="presOf" srcId="{4344EF75-7F9E-4CEC-88BE-5267E73F6C26}" destId="{973DC0CC-8304-4E03-87B5-BD1B67011B8C}" srcOrd="0" destOrd="0" presId="urn:microsoft.com/office/officeart/2009/3/layout/IncreasingArrowsProcess"/>
    <dgm:cxn modelId="{A2C66D86-7A02-46D8-BE80-55FED7C877FD}" type="presParOf" srcId="{42508249-CB23-4C29-BA91-0FBF4F3FC221}" destId="{24485D02-5A56-49DF-B637-A9A8AC67D4E6}" srcOrd="0" destOrd="0" presId="urn:microsoft.com/office/officeart/2009/3/layout/IncreasingArrowsProcess"/>
    <dgm:cxn modelId="{697CC9F4-507C-4E3A-8FA6-5B31130609FD}" type="presParOf" srcId="{42508249-CB23-4C29-BA91-0FBF4F3FC221}" destId="{973DC0CC-8304-4E03-87B5-BD1B67011B8C}" srcOrd="1" destOrd="0" presId="urn:microsoft.com/office/officeart/2009/3/layout/IncreasingArrowsProcess"/>
    <dgm:cxn modelId="{9D506BAC-8566-441F-A638-9325952BDAFC}" type="presParOf" srcId="{42508249-CB23-4C29-BA91-0FBF4F3FC221}" destId="{88F0906B-9D1E-488A-B4C5-08CAAB191724}" srcOrd="2" destOrd="0" presId="urn:microsoft.com/office/officeart/2009/3/layout/IncreasingArrowsProcess"/>
    <dgm:cxn modelId="{E08349A5-0353-4C9E-91A6-357A61A8D518}" type="presParOf" srcId="{42508249-CB23-4C29-BA91-0FBF4F3FC221}" destId="{CF98FD1A-AABC-4833-9CC8-F5ECB925415E}" srcOrd="3" destOrd="0" presId="urn:microsoft.com/office/officeart/2009/3/layout/IncreasingArrowsProcess"/>
    <dgm:cxn modelId="{A7BB57EB-A38D-4276-BCED-684F1223C668}" type="presParOf" srcId="{42508249-CB23-4C29-BA91-0FBF4F3FC221}" destId="{F9AE15FA-8263-4E7F-B6DC-79DA0B2F7B75}" srcOrd="4" destOrd="0" presId="urn:microsoft.com/office/officeart/2009/3/layout/IncreasingArrowsProcess"/>
    <dgm:cxn modelId="{479950C8-AF5C-4106-992A-1C66634BB90B}" type="presParOf" srcId="{42508249-CB23-4C29-BA91-0FBF4F3FC221}" destId="{A1C7FE50-A7A9-4DCF-9D2D-0D9BE2138934}" srcOrd="5" destOrd="0" presId="urn:microsoft.com/office/officeart/2009/3/layout/IncreasingArrows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Simple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dirty="0"/>
            <a:t>Additionally, they will also perform validation of the supplied parameters.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3DF617-CC3F-4D66-8EA6-35BB1DC8CBA6}" type="presOf" srcId="{4C74B0FE-0F44-43D7-940D-B9AF6ABF1025}" destId="{8BB355F9-6CC2-4480-9B7E-D892D65FD34C}" srcOrd="0" destOrd="0" presId="urn:microsoft.com/office/officeart/2024/3/layout/hArchList1"/>
    <dgm:cxn modelId="{F2BA5920-A477-487A-BF0F-C34CB4B62146}" type="presOf" srcId="{FABA06FE-F150-48B5-B3D7-2915E3C41ABD}" destId="{6BD7537A-36A9-42F0-9C36-0D4BA2D0752A}" srcOrd="0" destOrd="0" presId="urn:microsoft.com/office/officeart/2024/3/layout/hArchList1"/>
    <dgm:cxn modelId="{A340B23A-91D0-462C-A679-3ACAAB787D70}" type="presOf" srcId="{768B9187-70A7-4F24-98C9-4549D9A80F20}" destId="{58CF0B87-5490-46B7-A456-64A277CB332C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A939996F-AA57-4AB8-94FF-5D1362537617}" type="presOf" srcId="{3AB04008-29BA-487D-8C45-AE18FA21868B}" destId="{4CD37533-18BB-44AF-9438-CA8C06D267FF}" srcOrd="0" destOrd="0" presId="urn:microsoft.com/office/officeart/2024/3/layout/hArchList1"/>
    <dgm:cxn modelId="{83C57875-C8C0-42D4-A258-93D49EA82CD8}" type="presOf" srcId="{D594FA1A-CAFE-4FC9-B29F-017F3AF2316D}" destId="{018F7438-E01D-44D7-ADD6-157BC62500E3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D7BB7C97-F788-497C-BCAA-B9131F94E09F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D39160A8-01E5-4CBB-83C0-E26188120B2B}" type="presOf" srcId="{FBA685A8-C4ED-4A44-BA15-A95087C22363}" destId="{E38D88DE-6630-449F-B815-64F25EB69547}" srcOrd="0" destOrd="0" presId="urn:microsoft.com/office/officeart/2024/3/layout/hArchList1"/>
    <dgm:cxn modelId="{2D4E08CE-615F-4DDD-B3D3-2BFE9E67E070}" type="presOf" srcId="{E137F926-3C8F-4C45-8350-903EA88D75AF}" destId="{412E2C94-E9BF-4E2B-961F-50EF83661C9E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582F0F5E-244F-45D2-B023-A57BD75D1EC1}" type="presParOf" srcId="{3171E97B-CDE9-41AD-B264-8ADEE4D73563}" destId="{673D3BE1-0B49-408D-A9B7-2ACE218FD35D}" srcOrd="0" destOrd="0" presId="urn:microsoft.com/office/officeart/2024/3/layout/hArchList1"/>
    <dgm:cxn modelId="{A548ED9C-046D-4BB1-8D3C-6FD046C27F60}" type="presParOf" srcId="{673D3BE1-0B49-408D-A9B7-2ACE218FD35D}" destId="{018F7438-E01D-44D7-ADD6-157BC62500E3}" srcOrd="0" destOrd="0" presId="urn:microsoft.com/office/officeart/2024/3/layout/hArchList1"/>
    <dgm:cxn modelId="{5643C7C9-5160-4BEC-9A38-173A21075E9B}" type="presParOf" srcId="{673D3BE1-0B49-408D-A9B7-2ACE218FD35D}" destId="{5C90C3CA-0AA3-4EBE-B50C-5D1938624D21}" srcOrd="1" destOrd="0" presId="urn:microsoft.com/office/officeart/2024/3/layout/hArchList1"/>
    <dgm:cxn modelId="{503658CB-B4DE-40D1-A7FE-6D4AA57F070B}" type="presParOf" srcId="{3171E97B-CDE9-41AD-B264-8ADEE4D73563}" destId="{4CD37533-18BB-44AF-9438-CA8C06D267FF}" srcOrd="1" destOrd="0" presId="urn:microsoft.com/office/officeart/2024/3/layout/hArchList1"/>
    <dgm:cxn modelId="{B502C618-10E0-4DFC-8F21-DC74D44E314E}" type="presParOf" srcId="{3171E97B-CDE9-41AD-B264-8ADEE4D73563}" destId="{4A15BD43-FC5C-486B-BBDD-003A13A15493}" srcOrd="2" destOrd="0" presId="urn:microsoft.com/office/officeart/2024/3/layout/hArchList1"/>
    <dgm:cxn modelId="{74482876-705F-4982-9BF6-7250ABFA8208}" type="presParOf" srcId="{4A15BD43-FC5C-486B-BBDD-003A13A15493}" destId="{58CF0B87-5490-46B7-A456-64A277CB332C}" srcOrd="0" destOrd="0" presId="urn:microsoft.com/office/officeart/2024/3/layout/hArchList1"/>
    <dgm:cxn modelId="{86291A9B-A7BD-4A17-9FA3-73B5F1192B26}" type="presParOf" srcId="{4A15BD43-FC5C-486B-BBDD-003A13A15493}" destId="{8BB355F9-6CC2-4480-9B7E-D892D65FD34C}" srcOrd="1" destOrd="0" presId="urn:microsoft.com/office/officeart/2024/3/layout/hArchList1"/>
    <dgm:cxn modelId="{C6516519-8B52-440E-94E2-D6A7B633422D}" type="presParOf" srcId="{3171E97B-CDE9-41AD-B264-8ADEE4D73563}" destId="{412E2C94-E9BF-4E2B-961F-50EF83661C9E}" srcOrd="3" destOrd="0" presId="urn:microsoft.com/office/officeart/2024/3/layout/hArchList1"/>
    <dgm:cxn modelId="{45AFFFFC-BE63-4F53-B4D2-90F1E0549280}" type="presParOf" srcId="{3171E97B-CDE9-41AD-B264-8ADEE4D73563}" destId="{00797D44-CAE9-428C-9B5E-3CE638B13212}" srcOrd="4" destOrd="0" presId="urn:microsoft.com/office/officeart/2024/3/layout/hArchList1"/>
    <dgm:cxn modelId="{51AF1C5B-A6A3-4F7E-9193-00ED0BBF587E}" type="presParOf" srcId="{00797D44-CAE9-428C-9B5E-3CE638B13212}" destId="{E38D88DE-6630-449F-B815-64F25EB69547}" srcOrd="0" destOrd="0" presId="urn:microsoft.com/office/officeart/2024/3/layout/hArchList1"/>
    <dgm:cxn modelId="{8A06BC44-10F2-41E6-A83A-BD9AC8EC5EB6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Isolate you back-end server(s) from the database</a:t>
          </a:r>
          <a:r>
            <a:rPr lang="en-NL" sz="1800" kern="1200" dirty="0"/>
            <a:t>​</a:t>
          </a:r>
          <a:endParaRPr lang="en-US" sz="1800" kern="1200" dirty="0"/>
        </a:p>
      </dsp:txBody>
      <dsp:txXfrm>
        <a:off x="0" y="0"/>
        <a:ext cx="2587153" cy="902201"/>
      </dsp:txXfrm>
    </dsp:sp>
    <dsp:sp modelId="{5C90C3CA-0AA3-4EBE-B50C-5D1938624D21}">
      <dsp:nvSpPr>
        <dsp:cNvPr id="0" name=""/>
        <dsp:cNvSpPr/>
      </dsp:nvSpPr>
      <dsp:spPr>
        <a:xfrm>
          <a:off x="0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02201"/>
        <a:ext cx="2587153" cy="237122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Focus M development on database procedures</a:t>
          </a:r>
        </a:p>
      </dsp:txBody>
      <dsp:txXfrm>
        <a:off x="2845869" y="0"/>
        <a:ext cx="2587153" cy="902201"/>
      </dsp:txXfrm>
    </dsp:sp>
    <dsp:sp modelId="{8BB355F9-6CC2-4480-9B7E-D892D65FD34C}">
      <dsp:nvSpPr>
        <dsp:cNvPr id="0" name=""/>
        <dsp:cNvSpPr/>
      </dsp:nvSpPr>
      <dsp:spPr>
        <a:xfrm>
          <a:off x="2845869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02201"/>
        <a:ext cx="2587153" cy="237122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022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kern="1200" dirty="0"/>
            <a:t>Execute your MUMPS code remotely from multiple languages</a:t>
          </a:r>
        </a:p>
      </dsp:txBody>
      <dsp:txXfrm>
        <a:off x="5691738" y="0"/>
        <a:ext cx="2587153" cy="902201"/>
      </dsp:txXfrm>
    </dsp:sp>
    <dsp:sp modelId="{6BD7537A-36A9-42F0-9C36-0D4BA2D0752A}">
      <dsp:nvSpPr>
        <dsp:cNvPr id="0" name=""/>
        <dsp:cNvSpPr/>
      </dsp:nvSpPr>
      <dsp:spPr>
        <a:xfrm>
          <a:off x="5691738" y="902201"/>
          <a:ext cx="2587153" cy="23712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 will be available</a:t>
          </a:r>
        </a:p>
      </dsp:txBody>
      <dsp:txXfrm>
        <a:off x="5691738" y="902201"/>
        <a:ext cx="2587153" cy="23712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Easy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automatic  validation of the supplied parameters is performed with no code needed.</a:t>
          </a:r>
        </a:p>
      </dsp:txBody>
      <dsp:txXfrm>
        <a:off x="5691738" y="846926"/>
        <a:ext cx="2587153" cy="22385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85D02-5A56-49DF-B637-A9A8AC67D4E6}">
      <dsp:nvSpPr>
        <dsp:cNvPr id="0" name=""/>
        <dsp:cNvSpPr/>
      </dsp:nvSpPr>
      <dsp:spPr>
        <a:xfrm>
          <a:off x="460192" y="10229"/>
          <a:ext cx="9095498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</a:t>
          </a:r>
          <a:endParaRPr lang="en-NL" sz="2500" kern="1200" dirty="0"/>
        </a:p>
      </dsp:txBody>
      <dsp:txXfrm>
        <a:off x="460192" y="341392"/>
        <a:ext cx="8764335" cy="662325"/>
      </dsp:txXfrm>
    </dsp:sp>
    <dsp:sp modelId="{973DC0CC-8304-4E03-87B5-BD1B67011B8C}">
      <dsp:nvSpPr>
        <dsp:cNvPr id="0" name=""/>
        <dsp:cNvSpPr/>
      </dsp:nvSpPr>
      <dsp:spPr>
        <a:xfrm>
          <a:off x="460192" y="1031726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 your method in a JSON file and restart the Mind server</a:t>
          </a:r>
          <a:endParaRPr lang="en-NL" sz="2500" kern="1200" dirty="0"/>
        </a:p>
      </dsp:txBody>
      <dsp:txXfrm>
        <a:off x="460192" y="1031726"/>
        <a:ext cx="2801413" cy="2551765"/>
      </dsp:txXfrm>
    </dsp:sp>
    <dsp:sp modelId="{88F0906B-9D1E-488A-B4C5-08CAAB191724}">
      <dsp:nvSpPr>
        <dsp:cNvPr id="0" name=""/>
        <dsp:cNvSpPr/>
      </dsp:nvSpPr>
      <dsp:spPr>
        <a:xfrm>
          <a:off x="3261605" y="451780"/>
          <a:ext cx="6294084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CODE</a:t>
          </a:r>
          <a:endParaRPr lang="en-NL" sz="2500" kern="1200" dirty="0"/>
        </a:p>
      </dsp:txBody>
      <dsp:txXfrm>
        <a:off x="3261605" y="782943"/>
        <a:ext cx="5962921" cy="662325"/>
      </dsp:txXfrm>
    </dsp:sp>
    <dsp:sp modelId="{CF98FD1A-AABC-4833-9CC8-F5ECB925415E}">
      <dsp:nvSpPr>
        <dsp:cNvPr id="0" name=""/>
        <dsp:cNvSpPr/>
      </dsp:nvSpPr>
      <dsp:spPr>
        <a:xfrm>
          <a:off x="3261605" y="1473277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Write M code, using our framework to read arguments and return formatted data</a:t>
          </a:r>
          <a:endParaRPr lang="en-NL" sz="2500" kern="1200" dirty="0"/>
        </a:p>
      </dsp:txBody>
      <dsp:txXfrm>
        <a:off x="3261605" y="1473277"/>
        <a:ext cx="2801413" cy="2551765"/>
      </dsp:txXfrm>
    </dsp:sp>
    <dsp:sp modelId="{F9AE15FA-8263-4E7F-B6DC-79DA0B2F7B75}">
      <dsp:nvSpPr>
        <dsp:cNvPr id="0" name=""/>
        <dsp:cNvSpPr/>
      </dsp:nvSpPr>
      <dsp:spPr>
        <a:xfrm>
          <a:off x="6063019" y="893330"/>
          <a:ext cx="3492671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EXECUTE</a:t>
          </a:r>
          <a:endParaRPr lang="en-NL" sz="2500" kern="1200" dirty="0"/>
        </a:p>
      </dsp:txBody>
      <dsp:txXfrm>
        <a:off x="6063019" y="1224493"/>
        <a:ext cx="3161508" cy="662325"/>
      </dsp:txXfrm>
    </dsp:sp>
    <dsp:sp modelId="{A1C7FE50-A7A9-4DCF-9D2D-0D9BE2138934}">
      <dsp:nvSpPr>
        <dsp:cNvPr id="0" name=""/>
        <dsp:cNvSpPr/>
      </dsp:nvSpPr>
      <dsp:spPr>
        <a:xfrm>
          <a:off x="6063019" y="1914827"/>
          <a:ext cx="2801413" cy="25144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You can call the </a:t>
          </a:r>
          <a:r>
            <a:rPr lang="en-US" sz="2500" kern="1200" dirty="0" err="1"/>
            <a:t>mthod</a:t>
          </a:r>
          <a:r>
            <a:rPr lang="en-US" sz="2500" kern="1200" dirty="0"/>
            <a:t> right away, which will execute the M code and return data</a:t>
          </a:r>
          <a:endParaRPr lang="en-NL" sz="2500" kern="1200" dirty="0"/>
        </a:p>
      </dsp:txBody>
      <dsp:txXfrm>
        <a:off x="6063019" y="1914827"/>
        <a:ext cx="2801413" cy="25144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install,</a:t>
          </a:r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Simple to run…</a:t>
          </a:r>
        </a:p>
      </dsp:txBody>
      <dsp:txXfrm>
        <a:off x="0" y="0"/>
        <a:ext cx="2587153" cy="846926"/>
      </dsp:txXfrm>
    </dsp:sp>
    <dsp:sp modelId="{5C90C3CA-0AA3-4EBE-B50C-5D1938624D21}">
      <dsp:nvSpPr>
        <dsp:cNvPr id="0" name=""/>
        <dsp:cNvSpPr/>
      </dsp:nvSpPr>
      <dsp:spPr>
        <a:xfrm>
          <a:off x="0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MIND Server gets installed as standard YottaDB plugin on top of your YottaDB installation with a one-liner command.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You can then either run it directly of configure it using the .conf file or command line switches.</a:t>
          </a:r>
        </a:p>
      </dsp:txBody>
      <dsp:txXfrm>
        <a:off x="0" y="846926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Designed putting both MUMPS and back-end developers first</a:t>
          </a:r>
        </a:p>
      </dsp:txBody>
      <dsp:txXfrm>
        <a:off x="2845869" y="0"/>
        <a:ext cx="2587153" cy="846926"/>
      </dsp:txXfrm>
    </dsp:sp>
    <dsp:sp modelId="{8BB355F9-6CC2-4480-9B7E-D892D65FD34C}">
      <dsp:nvSpPr>
        <dsp:cNvPr id="0" name=""/>
        <dsp:cNvSpPr/>
      </dsp:nvSpPr>
      <dsp:spPr>
        <a:xfrm>
          <a:off x="2845869" y="927112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And, of course, we support JSON in both directions.</a:t>
          </a:r>
        </a:p>
      </dsp:txBody>
      <dsp:txXfrm>
        <a:off x="2845869" y="927112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8469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1590" rIns="21590" bIns="2159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ZERO coding needed in the client (back-end) driver.</a:t>
          </a:r>
        </a:p>
      </dsp:txBody>
      <dsp:txXfrm>
        <a:off x="5691738" y="0"/>
        <a:ext cx="2587153" cy="846926"/>
      </dsp:txXfrm>
    </dsp:sp>
    <dsp:sp modelId="{6BD7537A-36A9-42F0-9C36-0D4BA2D0752A}">
      <dsp:nvSpPr>
        <dsp:cNvPr id="0" name=""/>
        <dsp:cNvSpPr/>
      </dsp:nvSpPr>
      <dsp:spPr>
        <a:xfrm>
          <a:off x="5691738" y="846926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Additionally, they will also perform validation of the supplied parameters.</a:t>
          </a:r>
        </a:p>
      </dsp:txBody>
      <dsp:txXfrm>
        <a:off x="5691738" y="846926"/>
        <a:ext cx="2587153" cy="22385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IncreasingArrowsProcess">
  <dgm:title val=""/>
  <dgm:desc val=""/>
  <dgm:catLst>
    <dgm:cat type="process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clrData>
  <dgm:layoutNode name="Name0">
    <dgm:varLst>
      <dgm:chMax val="5"/>
      <dgm:chPref val="5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axis="ch ch" ptType="node node" func="cnt" op="equ" val="0">
            <dgm:alg type="composite">
              <dgm:param type="ar" val="6.8662"/>
            </dgm:alg>
            <dgm:choose name="Name5">
              <dgm:if name="Name6" func="var" arg="dir" op="equ" val="norm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if>
              <dgm:else name="Name7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else>
            </dgm:choose>
          </dgm:if>
          <dgm:else name="Name8">
            <dgm:alg type="composite">
              <dgm:param type="ar" val="1.9864"/>
            </dgm:alg>
            <dgm:choose name="Name9">
              <dgm:if name="Name1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if>
              <dgm:else name="Name1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.076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axis="ch ch" ptType="node node" func="cnt" op="equ" val="0">
            <dgm:alg type="composite">
              <dgm:param type="ar" val="5.1498"/>
            </dgm:alg>
            <dgm:choose name="Name15">
              <dgm:if name="Name1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.462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if>
              <dgm:else name="Name1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else>
            </dgm:choose>
          </dgm:if>
          <dgm:else name="Name18">
            <dgm:alg type="composite">
              <dgm:param type="ar" val="2.0563"/>
            </dgm:alg>
            <dgm:choose name="Name19">
              <dgm:if name="Name2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.462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462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if>
              <dgm:else name="Name2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.538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076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axis="ch ch" ptType="node node" func="cnt" op="equ" val="0">
            <dgm:alg type="composite">
              <dgm:param type="ar" val="4.1198"/>
            </dgm:alg>
            <dgm:choose name="Name25">
              <dgm:if name="Name2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.308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.616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if>
              <dgm:else name="Name2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else>
            </dgm:choose>
          </dgm:if>
          <dgm:else name="Name28">
            <dgm:alg type="composite">
              <dgm:param type="ar" val="2.0702"/>
            </dgm:alg>
            <dgm:choose name="Name29">
              <dgm:if name="Name3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08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61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.308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.616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if>
              <dgm:else name="Name3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.692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84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07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axis="ch ch" ptType="node node" func="cnt" op="equ" val="0">
            <dgm:alg type="composite">
              <dgm:param type="ar" val="3.435"/>
            </dgm:alg>
            <dgm:choose name="Name35">
              <dgm:if name="Name3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.2305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.461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.6915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if>
              <dgm:else name="Name3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else>
            </dgm:choose>
          </dgm:if>
          <dgm:else name="Name38">
            <dgm:alg type="composite">
              <dgm:param type="ar" val="1.9377"/>
            </dgm:alg>
            <dgm:choose name="Name39">
              <dgm:if name="Name4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2305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461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6915"/>
                  <dgm:constr type="t" for="ch" forName="childText4" refType="h" fact="0.5"/>
                  <dgm:constr type="w" for="ch" forName="childText4" refType="w" fact="0.232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.2305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.461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.6915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if>
              <dgm:else name="Name4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.7695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539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3085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076"/>
                  <dgm:constr type="t" for="ch" forName="childText4" refType="h" fact="0.5"/>
                  <dgm:constr type="w" for="ch" forName="childText4" refType="w" fact="0.234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else>
            </dgm:choose>
          </dgm:else>
        </dgm:choose>
      </dgm:if>
      <dgm:else name="Name42">
        <dgm:choose name="Name43">
          <dgm:if name="Name44" axis="ch ch" ptType="node node" func="cnt" op="equ" val="0">
            <dgm:alg type="composite">
              <dgm:param type="ar" val="2.9463"/>
            </dgm:alg>
            <dgm:choose name="Name45">
              <dgm:if name="Name4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.1848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.3696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.5545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.7393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if>
              <dgm:else name="Name4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else>
            </dgm:choose>
          </dgm:if>
          <dgm:else name="Name48">
            <dgm:alg type="composite">
              <dgm:param type="ar" val="1.7837"/>
            </dgm:alg>
            <dgm:choose name="Name49">
              <dgm:if name="Name5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1848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3696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5545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7393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.1848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.3696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.5545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.7393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if>
              <dgm:else name="Name5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.81518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63036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44554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26072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0759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else>
            </dgm:choose>
          </dgm:else>
        </dgm:choose>
      </dgm:else>
    </dgm:choose>
    <dgm:forEach name="Name52" axis="ch" ptType="node" cnt="1">
      <dgm:layoutNode name="parentText1" styleLbl="node1">
        <dgm:varLst>
          <dgm:chMax/>
          <dgm:chPref val="3"/>
          <dgm:bulletEnabled val="1"/>
        </dgm:varLst>
        <dgm:choose name="Name53">
          <dgm:if name="Name54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55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56">
        <dgm:if name="Name57" axis="ch" ptType="node" func="cnt" op="gte" val="1">
          <dgm:layoutNode name="childText1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8"/>
      </dgm:choose>
    </dgm:forEach>
    <dgm:forEach name="Name59" axis="ch" ptType="node" st="2" cnt="1">
      <dgm:layoutNode name="parentText2" styleLbl="node1">
        <dgm:varLst>
          <dgm:chMax/>
          <dgm:chPref val="3"/>
          <dgm:bulletEnabled val="1"/>
        </dgm:varLst>
        <dgm:choose name="Name60">
          <dgm:if name="Name61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2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63">
        <dgm:if name="Name64" axis="ch" ptType="node" func="cnt" op="gte" val="1">
          <dgm:layoutNode name="childText2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5"/>
      </dgm:choose>
    </dgm:forEach>
    <dgm:forEach name="Name66" axis="ch" ptType="node" st="3" cnt="1">
      <dgm:layoutNode name="parentText3" styleLbl="node1">
        <dgm:varLst>
          <dgm:chMax/>
          <dgm:chPref val="3"/>
          <dgm:bulletEnabled val="1"/>
        </dgm:varLst>
        <dgm:choose name="Name67">
          <dgm:if name="Name68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9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0">
        <dgm:if name="Name71" axis="ch" ptType="node" func="cnt" op="gte" val="1">
          <dgm:layoutNode name="childText3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</dgm:forEach>
    <dgm:forEach name="Name73" axis="ch" ptType="node" st="4" cnt="1">
      <dgm:layoutNode name="parentText4" styleLbl="node1">
        <dgm:varLst>
          <dgm:chMax/>
          <dgm:chPref val="3"/>
          <dgm:bulletEnabled val="1"/>
        </dgm:varLst>
        <dgm:choose name="Name74">
          <dgm:if name="Name75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76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7">
        <dgm:if name="Name78" axis="ch" ptType="node" func="cnt" op="gte" val="1">
          <dgm:layoutNode name="childText4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9"/>
      </dgm:choose>
    </dgm:forEach>
    <dgm:forEach name="Name80" axis="ch" ptType="node" st="5" cnt="1">
      <dgm:layoutNode name="parentText5" styleLbl="node1">
        <dgm:varLst>
          <dgm:chMax/>
          <dgm:chPref val="3"/>
          <dgm:bulletEnabled val="1"/>
        </dgm:varLst>
        <dgm:choose name="Name81">
          <dgm:if name="Name82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83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84">
        <dgm:if name="Name85" axis="ch" ptType="node" func="cnt" op="gte" val="1">
          <dgm:layoutNode name="childText5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6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23/02/2026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90" y="710353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dirty="0">
                <a:solidFill>
                  <a:srgbClr val="FFFFFF"/>
                </a:solidFill>
              </a:rPr>
              <a:t>MIND for YottaDB</a:t>
            </a:r>
            <a:endParaRPr lang="en-NL" sz="8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3681638"/>
            <a:ext cx="5672176" cy="1503005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A remote MUMPS API Framework</a:t>
            </a:r>
            <a:endParaRPr lang="en-NL" sz="44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6353107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42365-D6CF-DCC8-2123-A23EE2E6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30CC-8AAB-925E-E6E3-3FC92EE1C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01A6-1E38-AF8A-F281-E4573822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Allow you to execute ONLY database related code on the MUMPS server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Allow you to have multiple back-end servers, sharing the same database, to cope with increasing traffic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Keep the power and speed of the M language for pure database access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your preferred language for the back-end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34243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037049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Practically every database in the market has a remote access through sockets</a:t>
            </a:r>
          </a:p>
          <a:p>
            <a:r>
              <a:rPr lang="en-US" dirty="0"/>
              <a:t>One of the main reasons is the growing amount of processed data, leaving horizontal back-end scalability (multiple servers behind a load balancer) accessing a monolithic database a good compromise.</a:t>
            </a:r>
          </a:p>
          <a:p>
            <a:r>
              <a:rPr lang="en-US" dirty="0"/>
              <a:t>At the same time, executing only pure data API running on the server and moving all the business-tiers to external machines increase the power of the database server allowing a monolithic system to handle more traffic.</a:t>
            </a:r>
          </a:p>
          <a:p>
            <a:r>
              <a:rPr lang="en-US" dirty="0" err="1"/>
              <a:t>GTm</a:t>
            </a:r>
            <a:r>
              <a:rPr lang="en-US" dirty="0"/>
              <a:t> and YottaDB don’t have remote access, but I can understand that it is not easy to find the right compromise talking to remote servers with foreign programming languages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73CC-7ECC-7075-0FFC-14EB9A731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B026E-8CEF-8EBE-7D93-0A0EE6BAB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6879-A4B1-89EF-4659-2698C7501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That’s why Mind fill all the gaps:</a:t>
            </a:r>
          </a:p>
          <a:p>
            <a:pPr lvl="1"/>
            <a:r>
              <a:rPr lang="en-US" dirty="0"/>
              <a:t>Talks M to M programmers and </a:t>
            </a:r>
            <a:r>
              <a:rPr lang="en-US" dirty="0" err="1"/>
              <a:t>js</a:t>
            </a:r>
            <a:r>
              <a:rPr lang="en-US" dirty="0"/>
              <a:t> / java / Go to remote programmers</a:t>
            </a:r>
          </a:p>
          <a:p>
            <a:pPr lvl="1"/>
            <a:r>
              <a:rPr lang="en-US" dirty="0"/>
              <a:t>Expose data in back-end “standard” formats (data-types, Objects) for smoother integration</a:t>
            </a:r>
          </a:p>
          <a:p>
            <a:r>
              <a:rPr lang="en-US" dirty="0"/>
              <a:t>It is the natural “remote extension” of the multi-language packages YottaDB already offers…</a:t>
            </a:r>
          </a:p>
          <a:p>
            <a:r>
              <a:rPr lang="en-US" dirty="0"/>
              <a:t>It removes the need to have ALL the client’s code running on the database server, which is now the case (and, in some situation, a limitation for potential customers)</a:t>
            </a:r>
          </a:p>
          <a:p>
            <a:r>
              <a:rPr lang="en-US" dirty="0"/>
              <a:t>Why not offer both?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005701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3ABBE-7B4D-2698-854D-2D649576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E851-7CFF-64B0-4456-D720CAFF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AAD8-E086-1897-DC4C-F15BFE58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29544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7B5-E215-15E8-0E6C-7178052D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A8FE-96E8-FA6D-4016-D8C764F7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C605C-D752-F116-AA72-B9CF1DB4E3CE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FF8366A-08FC-4B62-F659-F8D275AAC597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C10AFFF-DA9B-3E3C-6714-16FA905FE75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9EED33-E607-5CC0-F47D-6A0AFB9DA403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D2DF9-1A6F-572C-266F-0B79035EC816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AF0D4D83-FFB9-D812-E11C-71E50A30BBF9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7A13D67-DA82-D27B-6B88-B1E07FC7209E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3BA8613-48BA-FC8A-8823-DD4BC9ECEC69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D9E1B-31B3-11F8-6801-4F5297EB0750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0358C-B79C-34E5-32A6-106D5E7E633D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C6488715-68F2-020C-4B9A-E33D36AF0032}"/>
              </a:ext>
            </a:extLst>
          </p:cNvPr>
          <p:cNvSpPr/>
          <p:nvPr/>
        </p:nvSpPr>
        <p:spPr>
          <a:xfrm>
            <a:off x="7831537" y="1324137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 layer API</a:t>
            </a:r>
            <a:endParaRPr lang="en-NL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5AB315C-7E24-E436-A427-145E05EB83D4}"/>
              </a:ext>
            </a:extLst>
          </p:cNvPr>
          <p:cNvSpPr/>
          <p:nvPr/>
        </p:nvSpPr>
        <p:spPr>
          <a:xfrm>
            <a:off x="1636641" y="1367195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Back-end</a:t>
            </a:r>
          </a:p>
          <a:p>
            <a:pPr algn="ctr"/>
            <a:r>
              <a:rPr lang="en-US" dirty="0"/>
              <a:t>API</a:t>
            </a:r>
            <a:endParaRPr lang="en-NL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CAA5F59-292A-95B6-42BE-6490A52E7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59193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you need is JSON to describe your API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your procedures / functions with parameters name and data-types</a:t>
            </a:r>
          </a:p>
          <a:p>
            <a:r>
              <a:rPr lang="en-US" dirty="0"/>
              <a:t>Describe you return value data-type</a:t>
            </a:r>
          </a:p>
          <a:p>
            <a:r>
              <a:rPr lang="en-US" dirty="0"/>
              <a:t>Create a tree structure to group your methods</a:t>
            </a:r>
          </a:p>
          <a:p>
            <a:r>
              <a:rPr lang="en-US" dirty="0"/>
              <a:t>Optionally, add M shared variables names to keep process-context in place</a:t>
            </a:r>
          </a:p>
          <a:p>
            <a:r>
              <a:rPr lang="en-US" dirty="0"/>
              <a:t>Optionally, add read-only value (in several data-types) that will appear as “properties” in the tree structure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38FE-D592-6E73-C864-BC346F3D9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and execute M code in 3 minutes</a:t>
            </a:r>
            <a:endParaRPr lang="en-N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C0FBF0F-89D4-2852-1FC1-C4E591267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4979283"/>
              </p:ext>
            </p:extLst>
          </p:nvPr>
        </p:nvGraphicFramePr>
        <p:xfrm>
          <a:off x="1155700" y="2173357"/>
          <a:ext cx="10015883" cy="4439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01963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6DC185-0273-5F80-868C-0BB3B7C23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7AA2B-1A44-5B47-5FA9-76DF0396F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 err="1"/>
              <a:t>fdssdf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088B2664-C99A-188C-C5EF-0529B0374B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60101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F909B-EE31-EFAE-7A0A-716460177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client topology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D319E-4957-2EE4-4C13-0595662B4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3037840"/>
            <a:ext cx="8825659" cy="3416300"/>
          </a:xfrm>
        </p:spPr>
        <p:txBody>
          <a:bodyPr/>
          <a:lstStyle/>
          <a:p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F072E5-7887-F607-BF39-D96818D9FA72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498F2A-2B3E-EC6E-3370-BDA6ECEEBCD1}"/>
              </a:ext>
            </a:extLst>
          </p:cNvPr>
          <p:cNvSpPr/>
          <p:nvPr/>
        </p:nvSpPr>
        <p:spPr>
          <a:xfrm>
            <a:off x="1338470" y="305164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17F3A1-D3FE-2883-548B-55FBC5FAB49B}"/>
              </a:ext>
            </a:extLst>
          </p:cNvPr>
          <p:cNvSpPr/>
          <p:nvPr/>
        </p:nvSpPr>
        <p:spPr>
          <a:xfrm>
            <a:off x="1338470" y="405218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7CB8825-4B0A-2B99-5CCA-B5B43ED68D5E}"/>
              </a:ext>
            </a:extLst>
          </p:cNvPr>
          <p:cNvSpPr/>
          <p:nvPr/>
        </p:nvSpPr>
        <p:spPr>
          <a:xfrm>
            <a:off x="1338470" y="513886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5DF86D-A187-60DE-9EAA-60488AC3907E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8B874837-BD2C-4052-D10C-2C6FD0E0B0CD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61A8CD9-16B7-755F-4E8A-F0E7175BCAB8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6DFC8CCF-17FF-8005-BDBE-EC14BF92D6E8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2353F4B-EBEF-762E-C172-A1A47A2201EF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BB92C-848E-CB9F-39FD-089BE313EB37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3112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0E760-2C4C-850E-B41F-5ABE7C392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E02B4-15A9-AA4C-6998-FB05601E2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81337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</TotalTime>
  <Words>894</Words>
  <Application>Microsoft Office PowerPoint</Application>
  <PresentationFormat>Widescreen</PresentationFormat>
  <Paragraphs>107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Ion Boardroom</vt:lpstr>
      <vt:lpstr>MIND for YottaDB</vt:lpstr>
      <vt:lpstr>Streamline MUMPS API development with no worries</vt:lpstr>
      <vt:lpstr>Distributed architecture</vt:lpstr>
      <vt:lpstr>Up and running in no time</vt:lpstr>
      <vt:lpstr>Private comment</vt:lpstr>
      <vt:lpstr>Private comment</vt:lpstr>
      <vt:lpstr>RESP3 as network protocol</vt:lpstr>
      <vt:lpstr>Architecture</vt:lpstr>
      <vt:lpstr>All you need is JSON to describe your API</vt:lpstr>
      <vt:lpstr>Create and execute M code in 3 minutes</vt:lpstr>
      <vt:lpstr>fdssdf</vt:lpstr>
      <vt:lpstr>Multiple client topology</vt:lpstr>
      <vt:lpstr>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10</cp:revision>
  <dcterms:created xsi:type="dcterms:W3CDTF">2026-02-21T16:55:37Z</dcterms:created>
  <dcterms:modified xsi:type="dcterms:W3CDTF">2026-02-23T21:51:41Z</dcterms:modified>
</cp:coreProperties>
</file>