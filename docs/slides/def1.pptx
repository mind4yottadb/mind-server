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64" r:id="rId4"/>
    <p:sldId id="259" r:id="rId5"/>
    <p:sldId id="257" r:id="rId6"/>
    <p:sldId id="267" r:id="rId7"/>
    <p:sldId id="266" r:id="rId8"/>
    <p:sldId id="263" r:id="rId9"/>
    <p:sldId id="260" r:id="rId10"/>
    <p:sldId id="268" r:id="rId11"/>
    <p:sldId id="270" r:id="rId12"/>
    <p:sldId id="26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from multiple languages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endParaRPr lang="en-US" dirty="0"/>
        </a:p>
        <a:p>
          <a:pPr>
            <a:lnSpc>
              <a:spcPct val="100000"/>
            </a:lnSpc>
          </a:pPr>
          <a:r>
            <a:rPr lang="en-US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dirty="0"/>
            <a:t>Soon Java, Go and .NET drivers will be available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F0D2AA-5727-47E4-885B-0AD7C69408FC}" type="doc">
      <dgm:prSet loTypeId="urn:microsoft.com/office/officeart/2009/3/layout/IncreasingArrows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NL"/>
        </a:p>
      </dgm:t>
    </dgm:pt>
    <dgm:pt modelId="{9CB5A71A-0CED-471E-A2E8-29F4D481FAEA}">
      <dgm:prSet phldrT="[Text]"/>
      <dgm:spPr/>
      <dgm:t>
        <a:bodyPr/>
        <a:lstStyle/>
        <a:p>
          <a:r>
            <a:rPr lang="en-US" dirty="0"/>
            <a:t>DESCRIBE</a:t>
          </a:r>
          <a:endParaRPr lang="en-NL" dirty="0"/>
        </a:p>
      </dgm:t>
    </dgm:pt>
    <dgm:pt modelId="{FBACFB23-C58D-4779-B739-6842A01D4026}" type="parTrans" cxnId="{047E2F73-5612-4C2A-8B14-DCF661A7E1D3}">
      <dgm:prSet/>
      <dgm:spPr/>
      <dgm:t>
        <a:bodyPr/>
        <a:lstStyle/>
        <a:p>
          <a:endParaRPr lang="en-NL"/>
        </a:p>
      </dgm:t>
    </dgm:pt>
    <dgm:pt modelId="{14C68E61-B304-4EB7-A8E3-AD04A07138C0}" type="sibTrans" cxnId="{047E2F73-5612-4C2A-8B14-DCF661A7E1D3}">
      <dgm:prSet/>
      <dgm:spPr/>
      <dgm:t>
        <a:bodyPr/>
        <a:lstStyle/>
        <a:p>
          <a:endParaRPr lang="en-NL"/>
        </a:p>
      </dgm:t>
    </dgm:pt>
    <dgm:pt modelId="{4344EF75-7F9E-4CEC-88BE-5267E73F6C26}">
      <dgm:prSet phldrT="[Text]" phldr="0"/>
      <dgm:spPr/>
      <dgm:t>
        <a:bodyPr/>
        <a:lstStyle/>
        <a:p>
          <a:r>
            <a:rPr lang="en-US" dirty="0"/>
            <a:t>Describe your method in a JSON file and restart the Mind server</a:t>
          </a:r>
          <a:endParaRPr lang="en-NL" dirty="0"/>
        </a:p>
      </dgm:t>
    </dgm:pt>
    <dgm:pt modelId="{4761A776-83AC-45F9-B980-CCF47FB439A6}" type="parTrans" cxnId="{21736EC6-DF9E-4812-8885-8F99A279210D}">
      <dgm:prSet/>
      <dgm:spPr/>
      <dgm:t>
        <a:bodyPr/>
        <a:lstStyle/>
        <a:p>
          <a:endParaRPr lang="en-NL"/>
        </a:p>
      </dgm:t>
    </dgm:pt>
    <dgm:pt modelId="{2A1533C5-0809-4C32-A6A6-C3A810138ECE}" type="sibTrans" cxnId="{21736EC6-DF9E-4812-8885-8F99A279210D}">
      <dgm:prSet/>
      <dgm:spPr/>
      <dgm:t>
        <a:bodyPr/>
        <a:lstStyle/>
        <a:p>
          <a:endParaRPr lang="en-NL"/>
        </a:p>
      </dgm:t>
    </dgm:pt>
    <dgm:pt modelId="{928B3A8B-099C-4245-81CD-ABCA14C50A5E}">
      <dgm:prSet phldrT="[Text]" phldr="0"/>
      <dgm:spPr/>
      <dgm:t>
        <a:bodyPr/>
        <a:lstStyle/>
        <a:p>
          <a:r>
            <a:rPr lang="en-US" dirty="0"/>
            <a:t>CODE</a:t>
          </a:r>
          <a:endParaRPr lang="en-NL" dirty="0"/>
        </a:p>
      </dgm:t>
    </dgm:pt>
    <dgm:pt modelId="{B1AE77A9-9E35-43DD-8B99-95F9034E28E2}" type="parTrans" cxnId="{63928ABD-C46A-4BFE-9D2D-329F914A7672}">
      <dgm:prSet/>
      <dgm:spPr/>
      <dgm:t>
        <a:bodyPr/>
        <a:lstStyle/>
        <a:p>
          <a:endParaRPr lang="en-NL"/>
        </a:p>
      </dgm:t>
    </dgm:pt>
    <dgm:pt modelId="{D46E7F58-DAE3-46EA-A7A3-D1FC271B400C}" type="sibTrans" cxnId="{63928ABD-C46A-4BFE-9D2D-329F914A7672}">
      <dgm:prSet/>
      <dgm:spPr/>
      <dgm:t>
        <a:bodyPr/>
        <a:lstStyle/>
        <a:p>
          <a:endParaRPr lang="en-NL"/>
        </a:p>
      </dgm:t>
    </dgm:pt>
    <dgm:pt modelId="{DA319F0F-473C-4E9A-8E38-C39EA20CA45C}">
      <dgm:prSet phldrT="[Text]" phldr="0"/>
      <dgm:spPr/>
      <dgm:t>
        <a:bodyPr/>
        <a:lstStyle/>
        <a:p>
          <a:r>
            <a:rPr lang="en-US" dirty="0"/>
            <a:t>Write M code, using our framework to read arguments and return formatted data</a:t>
          </a:r>
          <a:endParaRPr lang="en-NL" dirty="0"/>
        </a:p>
      </dgm:t>
    </dgm:pt>
    <dgm:pt modelId="{B6681FC6-732F-4940-AB00-A705160479F5}" type="parTrans" cxnId="{186410B0-56AA-485D-8661-966F58E6C0D9}">
      <dgm:prSet/>
      <dgm:spPr/>
      <dgm:t>
        <a:bodyPr/>
        <a:lstStyle/>
        <a:p>
          <a:endParaRPr lang="en-NL"/>
        </a:p>
      </dgm:t>
    </dgm:pt>
    <dgm:pt modelId="{3288B630-77A4-4303-B46A-8295D57981F0}" type="sibTrans" cxnId="{186410B0-56AA-485D-8661-966F58E6C0D9}">
      <dgm:prSet/>
      <dgm:spPr/>
      <dgm:t>
        <a:bodyPr/>
        <a:lstStyle/>
        <a:p>
          <a:endParaRPr lang="en-NL"/>
        </a:p>
      </dgm:t>
    </dgm:pt>
    <dgm:pt modelId="{028DA142-C92D-45B3-9714-986F7A2F73F8}">
      <dgm:prSet phldrT="[Text]" phldr="0"/>
      <dgm:spPr/>
      <dgm:t>
        <a:bodyPr/>
        <a:lstStyle/>
        <a:p>
          <a:r>
            <a:rPr lang="en-US" dirty="0"/>
            <a:t>EXECUTE</a:t>
          </a:r>
          <a:endParaRPr lang="en-NL" dirty="0"/>
        </a:p>
      </dgm:t>
    </dgm:pt>
    <dgm:pt modelId="{0DE8F76B-0C5C-4DB5-94C2-BC83DB023453}" type="parTrans" cxnId="{0A6B94BF-4993-46D3-9476-5ABA78086C1D}">
      <dgm:prSet/>
      <dgm:spPr/>
      <dgm:t>
        <a:bodyPr/>
        <a:lstStyle/>
        <a:p>
          <a:endParaRPr lang="en-NL"/>
        </a:p>
      </dgm:t>
    </dgm:pt>
    <dgm:pt modelId="{08E2E17B-C633-40F7-BF3F-903076414FB4}" type="sibTrans" cxnId="{0A6B94BF-4993-46D3-9476-5ABA78086C1D}">
      <dgm:prSet/>
      <dgm:spPr/>
      <dgm:t>
        <a:bodyPr/>
        <a:lstStyle/>
        <a:p>
          <a:endParaRPr lang="en-NL"/>
        </a:p>
      </dgm:t>
    </dgm:pt>
    <dgm:pt modelId="{918F5F83-4066-4A9A-86C5-4CC17D51FEFC}">
      <dgm:prSet phldrT="[Text]" phldr="0"/>
      <dgm:spPr/>
      <dgm:t>
        <a:bodyPr/>
        <a:lstStyle/>
        <a:p>
          <a:r>
            <a:rPr lang="en-US" dirty="0"/>
            <a:t>You can call the method right away, which will execute the M code and return data</a:t>
          </a:r>
          <a:endParaRPr lang="en-NL" dirty="0"/>
        </a:p>
      </dgm:t>
    </dgm:pt>
    <dgm:pt modelId="{436780E1-0300-4F9C-ABD2-5DD30867CFE3}" type="parTrans" cxnId="{06BA9528-8E45-45AE-BBD7-641E50D4EDC4}">
      <dgm:prSet/>
      <dgm:spPr/>
      <dgm:t>
        <a:bodyPr/>
        <a:lstStyle/>
        <a:p>
          <a:endParaRPr lang="en-NL"/>
        </a:p>
      </dgm:t>
    </dgm:pt>
    <dgm:pt modelId="{7735AB31-62AB-4221-A127-FDD327E5F167}" type="sibTrans" cxnId="{06BA9528-8E45-45AE-BBD7-641E50D4EDC4}">
      <dgm:prSet/>
      <dgm:spPr/>
      <dgm:t>
        <a:bodyPr/>
        <a:lstStyle/>
        <a:p>
          <a:endParaRPr lang="en-NL"/>
        </a:p>
      </dgm:t>
    </dgm:pt>
    <dgm:pt modelId="{42508249-CB23-4C29-BA91-0FBF4F3FC221}" type="pres">
      <dgm:prSet presAssocID="{06F0D2AA-5727-47E4-885B-0AD7C69408FC}" presName="Name0" presStyleCnt="0">
        <dgm:presLayoutVars>
          <dgm:chMax val="5"/>
          <dgm:chPref val="5"/>
          <dgm:dir/>
          <dgm:animLvl val="lvl"/>
        </dgm:presLayoutVars>
      </dgm:prSet>
      <dgm:spPr/>
    </dgm:pt>
    <dgm:pt modelId="{24485D02-5A56-49DF-B637-A9A8AC67D4E6}" type="pres">
      <dgm:prSet presAssocID="{9CB5A71A-0CED-471E-A2E8-29F4D481FAEA}" presName="parentText1" presStyleLbl="node1" presStyleIdx="0" presStyleCnt="3">
        <dgm:presLayoutVars>
          <dgm:chMax/>
          <dgm:chPref val="3"/>
          <dgm:bulletEnabled val="1"/>
        </dgm:presLayoutVars>
      </dgm:prSet>
      <dgm:spPr/>
    </dgm:pt>
    <dgm:pt modelId="{973DC0CC-8304-4E03-87B5-BD1B67011B8C}" type="pres">
      <dgm:prSet presAssocID="{9CB5A71A-0CED-471E-A2E8-29F4D481FAEA}" presName="childText1" presStyleLbl="solidAlignAcc1" presStyleIdx="0" presStyleCnt="3">
        <dgm:presLayoutVars>
          <dgm:chMax val="0"/>
          <dgm:chPref val="0"/>
          <dgm:bulletEnabled val="1"/>
        </dgm:presLayoutVars>
      </dgm:prSet>
      <dgm:spPr/>
    </dgm:pt>
    <dgm:pt modelId="{88F0906B-9D1E-488A-B4C5-08CAAB191724}" type="pres">
      <dgm:prSet presAssocID="{928B3A8B-099C-4245-81CD-ABCA14C50A5E}" presName="parentText2" presStyleLbl="node1" presStyleIdx="1" presStyleCnt="3">
        <dgm:presLayoutVars>
          <dgm:chMax/>
          <dgm:chPref val="3"/>
          <dgm:bulletEnabled val="1"/>
        </dgm:presLayoutVars>
      </dgm:prSet>
      <dgm:spPr/>
    </dgm:pt>
    <dgm:pt modelId="{CF98FD1A-AABC-4833-9CC8-F5ECB925415E}" type="pres">
      <dgm:prSet presAssocID="{928B3A8B-099C-4245-81CD-ABCA14C50A5E}" presName="childText2" presStyleLbl="solidAlignAcc1" presStyleIdx="1" presStyleCnt="3">
        <dgm:presLayoutVars>
          <dgm:chMax val="0"/>
          <dgm:chPref val="0"/>
          <dgm:bulletEnabled val="1"/>
        </dgm:presLayoutVars>
      </dgm:prSet>
      <dgm:spPr/>
    </dgm:pt>
    <dgm:pt modelId="{F9AE15FA-8263-4E7F-B6DC-79DA0B2F7B75}" type="pres">
      <dgm:prSet presAssocID="{028DA142-C92D-45B3-9714-986F7A2F73F8}" presName="parentText3" presStyleLbl="node1" presStyleIdx="2" presStyleCnt="3">
        <dgm:presLayoutVars>
          <dgm:chMax/>
          <dgm:chPref val="3"/>
          <dgm:bulletEnabled val="1"/>
        </dgm:presLayoutVars>
      </dgm:prSet>
      <dgm:spPr/>
    </dgm:pt>
    <dgm:pt modelId="{A1C7FE50-A7A9-4DCF-9D2D-0D9BE2138934}" type="pres">
      <dgm:prSet presAssocID="{028DA142-C92D-45B3-9714-986F7A2F73F8}" presName="childText3" presStyleLbl="solidAlignAcc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6BA9528-8E45-45AE-BBD7-641E50D4EDC4}" srcId="{028DA142-C92D-45B3-9714-986F7A2F73F8}" destId="{918F5F83-4066-4A9A-86C5-4CC17D51FEFC}" srcOrd="0" destOrd="0" parTransId="{436780E1-0300-4F9C-ABD2-5DD30867CFE3}" sibTransId="{7735AB31-62AB-4221-A127-FDD327E5F167}"/>
    <dgm:cxn modelId="{B43C454E-3E7D-418C-B0B3-46BB9188DC69}" type="presOf" srcId="{928B3A8B-099C-4245-81CD-ABCA14C50A5E}" destId="{88F0906B-9D1E-488A-B4C5-08CAAB191724}" srcOrd="0" destOrd="0" presId="urn:microsoft.com/office/officeart/2009/3/layout/IncreasingArrowsProcess"/>
    <dgm:cxn modelId="{047E2F73-5612-4C2A-8B14-DCF661A7E1D3}" srcId="{06F0D2AA-5727-47E4-885B-0AD7C69408FC}" destId="{9CB5A71A-0CED-471E-A2E8-29F4D481FAEA}" srcOrd="0" destOrd="0" parTransId="{FBACFB23-C58D-4779-B739-6842A01D4026}" sibTransId="{14C68E61-B304-4EB7-A8E3-AD04A07138C0}"/>
    <dgm:cxn modelId="{62229B98-8AE5-44B5-AEBD-C20099DE724D}" type="presOf" srcId="{9CB5A71A-0CED-471E-A2E8-29F4D481FAEA}" destId="{24485D02-5A56-49DF-B637-A9A8AC67D4E6}" srcOrd="0" destOrd="0" presId="urn:microsoft.com/office/officeart/2009/3/layout/IncreasingArrowsProcess"/>
    <dgm:cxn modelId="{F747FAA5-AFF3-44E6-9D75-D457C0CFBAE4}" type="presOf" srcId="{028DA142-C92D-45B3-9714-986F7A2F73F8}" destId="{F9AE15FA-8263-4E7F-B6DC-79DA0B2F7B75}" srcOrd="0" destOrd="0" presId="urn:microsoft.com/office/officeart/2009/3/layout/IncreasingArrowsProcess"/>
    <dgm:cxn modelId="{186410B0-56AA-485D-8661-966F58E6C0D9}" srcId="{928B3A8B-099C-4245-81CD-ABCA14C50A5E}" destId="{DA319F0F-473C-4E9A-8E38-C39EA20CA45C}" srcOrd="0" destOrd="0" parTransId="{B6681FC6-732F-4940-AB00-A705160479F5}" sibTransId="{3288B630-77A4-4303-B46A-8295D57981F0}"/>
    <dgm:cxn modelId="{63928ABD-C46A-4BFE-9D2D-329F914A7672}" srcId="{06F0D2AA-5727-47E4-885B-0AD7C69408FC}" destId="{928B3A8B-099C-4245-81CD-ABCA14C50A5E}" srcOrd="1" destOrd="0" parTransId="{B1AE77A9-9E35-43DD-8B99-95F9034E28E2}" sibTransId="{D46E7F58-DAE3-46EA-A7A3-D1FC271B400C}"/>
    <dgm:cxn modelId="{0A6B94BF-4993-46D3-9476-5ABA78086C1D}" srcId="{06F0D2AA-5727-47E4-885B-0AD7C69408FC}" destId="{028DA142-C92D-45B3-9714-986F7A2F73F8}" srcOrd="2" destOrd="0" parTransId="{0DE8F76B-0C5C-4DB5-94C2-BC83DB023453}" sibTransId="{08E2E17B-C633-40F7-BF3F-903076414FB4}"/>
    <dgm:cxn modelId="{C4E538C3-BC2D-48D5-B1FC-EF63A807B039}" type="presOf" srcId="{918F5F83-4066-4A9A-86C5-4CC17D51FEFC}" destId="{A1C7FE50-A7A9-4DCF-9D2D-0D9BE2138934}" srcOrd="0" destOrd="0" presId="urn:microsoft.com/office/officeart/2009/3/layout/IncreasingArrowsProcess"/>
    <dgm:cxn modelId="{21736EC6-DF9E-4812-8885-8F99A279210D}" srcId="{9CB5A71A-0CED-471E-A2E8-29F4D481FAEA}" destId="{4344EF75-7F9E-4CEC-88BE-5267E73F6C26}" srcOrd="0" destOrd="0" parTransId="{4761A776-83AC-45F9-B980-CCF47FB439A6}" sibTransId="{2A1533C5-0809-4C32-A6A6-C3A810138ECE}"/>
    <dgm:cxn modelId="{7D0CCCCA-6063-4A99-BAE0-9C13FA6CE920}" type="presOf" srcId="{06F0D2AA-5727-47E4-885B-0AD7C69408FC}" destId="{42508249-CB23-4C29-BA91-0FBF4F3FC221}" srcOrd="0" destOrd="0" presId="urn:microsoft.com/office/officeart/2009/3/layout/IncreasingArrowsProcess"/>
    <dgm:cxn modelId="{BD6A3ECB-5B1F-4E3D-9ACB-C3849EFBD1BD}" type="presOf" srcId="{DA319F0F-473C-4E9A-8E38-C39EA20CA45C}" destId="{CF98FD1A-AABC-4833-9CC8-F5ECB925415E}" srcOrd="0" destOrd="0" presId="urn:microsoft.com/office/officeart/2009/3/layout/IncreasingArrowsProcess"/>
    <dgm:cxn modelId="{9D82A7E0-697A-492A-84CF-5FCD3D95668B}" type="presOf" srcId="{4344EF75-7F9E-4CEC-88BE-5267E73F6C26}" destId="{973DC0CC-8304-4E03-87B5-BD1B67011B8C}" srcOrd="0" destOrd="0" presId="urn:microsoft.com/office/officeart/2009/3/layout/IncreasingArrowsProcess"/>
    <dgm:cxn modelId="{A2C66D86-7A02-46D8-BE80-55FED7C877FD}" type="presParOf" srcId="{42508249-CB23-4C29-BA91-0FBF4F3FC221}" destId="{24485D02-5A56-49DF-B637-A9A8AC67D4E6}" srcOrd="0" destOrd="0" presId="urn:microsoft.com/office/officeart/2009/3/layout/IncreasingArrowsProcess"/>
    <dgm:cxn modelId="{697CC9F4-507C-4E3A-8FA6-5B31130609FD}" type="presParOf" srcId="{42508249-CB23-4C29-BA91-0FBF4F3FC221}" destId="{973DC0CC-8304-4E03-87B5-BD1B67011B8C}" srcOrd="1" destOrd="0" presId="urn:microsoft.com/office/officeart/2009/3/layout/IncreasingArrowsProcess"/>
    <dgm:cxn modelId="{9D506BAC-8566-441F-A638-9325952BDAFC}" type="presParOf" srcId="{42508249-CB23-4C29-BA91-0FBF4F3FC221}" destId="{88F0906B-9D1E-488A-B4C5-08CAAB191724}" srcOrd="2" destOrd="0" presId="urn:microsoft.com/office/officeart/2009/3/layout/IncreasingArrowsProcess"/>
    <dgm:cxn modelId="{E08349A5-0353-4C9E-91A6-357A61A8D518}" type="presParOf" srcId="{42508249-CB23-4C29-BA91-0FBF4F3FC221}" destId="{CF98FD1A-AABC-4833-9CC8-F5ECB925415E}" srcOrd="3" destOrd="0" presId="urn:microsoft.com/office/officeart/2009/3/layout/IncreasingArrowsProcess"/>
    <dgm:cxn modelId="{A7BB57EB-A38D-4276-BCED-684F1223C668}" type="presParOf" srcId="{42508249-CB23-4C29-BA91-0FBF4F3FC221}" destId="{F9AE15FA-8263-4E7F-B6DC-79DA0B2F7B75}" srcOrd="4" destOrd="0" presId="urn:microsoft.com/office/officeart/2009/3/layout/IncreasingArrowsProcess"/>
    <dgm:cxn modelId="{479950C8-AF5C-4106-992A-1C66634BB90B}" type="presParOf" srcId="{42508249-CB23-4C29-BA91-0FBF4F3FC221}" destId="{A1C7FE50-A7A9-4DCF-9D2D-0D9BE2138934}" srcOrd="5" destOrd="0" presId="urn:microsoft.com/office/officeart/2009/3/layout/IncreasingArrows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Isolate you back-end server(s) from the database</a:t>
          </a:r>
          <a:r>
            <a:rPr lang="en-NL" sz="1800" kern="1200" dirty="0"/>
            <a:t>​</a:t>
          </a:r>
          <a:endParaRPr lang="en-US" sz="1800" kern="1200" dirty="0"/>
        </a:p>
      </dsp:txBody>
      <dsp:txXfrm>
        <a:off x="0" y="0"/>
        <a:ext cx="2587153" cy="902201"/>
      </dsp:txXfrm>
    </dsp:sp>
    <dsp:sp modelId="{5C90C3CA-0AA3-4EBE-B50C-5D1938624D21}">
      <dsp:nvSpPr>
        <dsp:cNvPr id="0" name=""/>
        <dsp:cNvSpPr/>
      </dsp:nvSpPr>
      <dsp:spPr>
        <a:xfrm>
          <a:off x="0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02201"/>
        <a:ext cx="2587153" cy="237122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Focus M development on database procedures</a:t>
          </a:r>
        </a:p>
      </dsp:txBody>
      <dsp:txXfrm>
        <a:off x="2845869" y="0"/>
        <a:ext cx="2587153" cy="902201"/>
      </dsp:txXfrm>
    </dsp:sp>
    <dsp:sp modelId="{8BB355F9-6CC2-4480-9B7E-D892D65FD34C}">
      <dsp:nvSpPr>
        <dsp:cNvPr id="0" name=""/>
        <dsp:cNvSpPr/>
      </dsp:nvSpPr>
      <dsp:spPr>
        <a:xfrm>
          <a:off x="2845869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02201"/>
        <a:ext cx="2587153" cy="237122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Execute your MUMPS code remotely from multiple languages</a:t>
          </a:r>
        </a:p>
      </dsp:txBody>
      <dsp:txXfrm>
        <a:off x="5691738" y="0"/>
        <a:ext cx="2587153" cy="902201"/>
      </dsp:txXfrm>
    </dsp:sp>
    <dsp:sp modelId="{6BD7537A-36A9-42F0-9C36-0D4BA2D0752A}">
      <dsp:nvSpPr>
        <dsp:cNvPr id="0" name=""/>
        <dsp:cNvSpPr/>
      </dsp:nvSpPr>
      <dsp:spPr>
        <a:xfrm>
          <a:off x="5691738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 will be available</a:t>
          </a:r>
        </a:p>
      </dsp:txBody>
      <dsp:txXfrm>
        <a:off x="5691738" y="902201"/>
        <a:ext cx="2587153" cy="2371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Easy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automatic  validation of the supplied parameters is performed with no code needed.</a:t>
          </a:r>
        </a:p>
      </dsp:txBody>
      <dsp:txXfrm>
        <a:off x="5691738" y="846926"/>
        <a:ext cx="2587153" cy="22385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5D02-5A56-49DF-B637-A9A8AC67D4E6}">
      <dsp:nvSpPr>
        <dsp:cNvPr id="0" name=""/>
        <dsp:cNvSpPr/>
      </dsp:nvSpPr>
      <dsp:spPr>
        <a:xfrm>
          <a:off x="460192" y="10229"/>
          <a:ext cx="9095498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</a:t>
          </a:r>
          <a:endParaRPr lang="en-NL" sz="2500" kern="1200" dirty="0"/>
        </a:p>
      </dsp:txBody>
      <dsp:txXfrm>
        <a:off x="460192" y="341392"/>
        <a:ext cx="8764335" cy="662325"/>
      </dsp:txXfrm>
    </dsp:sp>
    <dsp:sp modelId="{973DC0CC-8304-4E03-87B5-BD1B67011B8C}">
      <dsp:nvSpPr>
        <dsp:cNvPr id="0" name=""/>
        <dsp:cNvSpPr/>
      </dsp:nvSpPr>
      <dsp:spPr>
        <a:xfrm>
          <a:off x="460192" y="1031726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 your method in a JSON file and restart the Mind server</a:t>
          </a:r>
          <a:endParaRPr lang="en-NL" sz="2500" kern="1200" dirty="0"/>
        </a:p>
      </dsp:txBody>
      <dsp:txXfrm>
        <a:off x="460192" y="1031726"/>
        <a:ext cx="2801413" cy="2551765"/>
      </dsp:txXfrm>
    </dsp:sp>
    <dsp:sp modelId="{88F0906B-9D1E-488A-B4C5-08CAAB191724}">
      <dsp:nvSpPr>
        <dsp:cNvPr id="0" name=""/>
        <dsp:cNvSpPr/>
      </dsp:nvSpPr>
      <dsp:spPr>
        <a:xfrm>
          <a:off x="3261605" y="451780"/>
          <a:ext cx="6294084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CODE</a:t>
          </a:r>
          <a:endParaRPr lang="en-NL" sz="2500" kern="1200" dirty="0"/>
        </a:p>
      </dsp:txBody>
      <dsp:txXfrm>
        <a:off x="3261605" y="782943"/>
        <a:ext cx="5962921" cy="662325"/>
      </dsp:txXfrm>
    </dsp:sp>
    <dsp:sp modelId="{CF98FD1A-AABC-4833-9CC8-F5ECB925415E}">
      <dsp:nvSpPr>
        <dsp:cNvPr id="0" name=""/>
        <dsp:cNvSpPr/>
      </dsp:nvSpPr>
      <dsp:spPr>
        <a:xfrm>
          <a:off x="3261605" y="1473277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Write M code, using our framework to read arguments and return formatted data</a:t>
          </a:r>
          <a:endParaRPr lang="en-NL" sz="2500" kern="1200" dirty="0"/>
        </a:p>
      </dsp:txBody>
      <dsp:txXfrm>
        <a:off x="3261605" y="1473277"/>
        <a:ext cx="2801413" cy="2551765"/>
      </dsp:txXfrm>
    </dsp:sp>
    <dsp:sp modelId="{F9AE15FA-8263-4E7F-B6DC-79DA0B2F7B75}">
      <dsp:nvSpPr>
        <dsp:cNvPr id="0" name=""/>
        <dsp:cNvSpPr/>
      </dsp:nvSpPr>
      <dsp:spPr>
        <a:xfrm>
          <a:off x="6063019" y="893330"/>
          <a:ext cx="3492671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EXECUTE</a:t>
          </a:r>
          <a:endParaRPr lang="en-NL" sz="2500" kern="1200" dirty="0"/>
        </a:p>
      </dsp:txBody>
      <dsp:txXfrm>
        <a:off x="6063019" y="1224493"/>
        <a:ext cx="3161508" cy="662325"/>
      </dsp:txXfrm>
    </dsp:sp>
    <dsp:sp modelId="{A1C7FE50-A7A9-4DCF-9D2D-0D9BE2138934}">
      <dsp:nvSpPr>
        <dsp:cNvPr id="0" name=""/>
        <dsp:cNvSpPr/>
      </dsp:nvSpPr>
      <dsp:spPr>
        <a:xfrm>
          <a:off x="6063019" y="1914827"/>
          <a:ext cx="2801413" cy="25144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You can call the method right away, which will execute the M code and return data</a:t>
          </a:r>
          <a:endParaRPr lang="en-NL" sz="2500" kern="1200" dirty="0"/>
        </a:p>
      </dsp:txBody>
      <dsp:txXfrm>
        <a:off x="6063019" y="1914827"/>
        <a:ext cx="2801413" cy="2514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IncreasingArrowsProcess">
  <dgm:title val=""/>
  <dgm:desc val=""/>
  <dgm:catLst>
    <dgm:cat type="process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 val="5"/>
      <dgm:chPref val="5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axis="ch ch" ptType="node node" func="cnt" op="equ" val="0">
            <dgm:alg type="composite">
              <dgm:param type="ar" val="6.8662"/>
            </dgm:alg>
            <dgm:choose name="Name5">
              <dgm:if name="Name6" func="var" arg="dir" op="equ" val="norm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if>
              <dgm:else name="Name7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else>
            </dgm:choose>
          </dgm:if>
          <dgm:else name="Name8">
            <dgm:alg type="composite">
              <dgm:param type="ar" val="1.9864"/>
            </dgm:alg>
            <dgm:choose name="Name9">
              <dgm:if name="Name1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if>
              <dgm:else name="Name1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.076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axis="ch ch" ptType="node node" func="cnt" op="equ" val="0">
            <dgm:alg type="composite">
              <dgm:param type="ar" val="5.1498"/>
            </dgm:alg>
            <dgm:choose name="Name15">
              <dgm:if name="Name1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.462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if>
              <dgm:else name="Name1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else>
            </dgm:choose>
          </dgm:if>
          <dgm:else name="Name18">
            <dgm:alg type="composite">
              <dgm:param type="ar" val="2.0563"/>
            </dgm:alg>
            <dgm:choose name="Name19">
              <dgm:if name="Name2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.462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462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if>
              <dgm:else name="Name2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.538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076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axis="ch ch" ptType="node node" func="cnt" op="equ" val="0">
            <dgm:alg type="composite">
              <dgm:param type="ar" val="4.1198"/>
            </dgm:alg>
            <dgm:choose name="Name25">
              <dgm:if name="Name2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.308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.616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if>
              <dgm:else name="Name2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else>
            </dgm:choose>
          </dgm:if>
          <dgm:else name="Name28">
            <dgm:alg type="composite">
              <dgm:param type="ar" val="2.0702"/>
            </dgm:alg>
            <dgm:choose name="Name29">
              <dgm:if name="Name3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08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61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.308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.616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if>
              <dgm:else name="Name3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.692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84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07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axis="ch ch" ptType="node node" func="cnt" op="equ" val="0">
            <dgm:alg type="composite">
              <dgm:param type="ar" val="3.435"/>
            </dgm:alg>
            <dgm:choose name="Name35">
              <dgm:if name="Name3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.2305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.461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.6915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if>
              <dgm:else name="Name3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else>
            </dgm:choose>
          </dgm:if>
          <dgm:else name="Name38">
            <dgm:alg type="composite">
              <dgm:param type="ar" val="1.9377"/>
            </dgm:alg>
            <dgm:choose name="Name39">
              <dgm:if name="Name4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2305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461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6915"/>
                  <dgm:constr type="t" for="ch" forName="childText4" refType="h" fact="0.5"/>
                  <dgm:constr type="w" for="ch" forName="childText4" refType="w" fact="0.232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.2305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.461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.6915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if>
              <dgm:else name="Name4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.7695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539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3085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076"/>
                  <dgm:constr type="t" for="ch" forName="childText4" refType="h" fact="0.5"/>
                  <dgm:constr type="w" for="ch" forName="childText4" refType="w" fact="0.234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else>
            </dgm:choose>
          </dgm:else>
        </dgm:choose>
      </dgm:if>
      <dgm:else name="Name42">
        <dgm:choose name="Name43">
          <dgm:if name="Name44" axis="ch ch" ptType="node node" func="cnt" op="equ" val="0">
            <dgm:alg type="composite">
              <dgm:param type="ar" val="2.9463"/>
            </dgm:alg>
            <dgm:choose name="Name45">
              <dgm:if name="Name4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.1848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.3696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.5545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.7393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if>
              <dgm:else name="Name4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else>
            </dgm:choose>
          </dgm:if>
          <dgm:else name="Name48">
            <dgm:alg type="composite">
              <dgm:param type="ar" val="1.7837"/>
            </dgm:alg>
            <dgm:choose name="Name49">
              <dgm:if name="Name5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1848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3696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5545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7393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.1848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.3696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.5545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.7393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if>
              <dgm:else name="Name5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.81518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63036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44554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26072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0759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else>
            </dgm:choose>
          </dgm:else>
        </dgm:choose>
      </dgm:else>
    </dgm:choose>
    <dgm:forEach name="Name52" axis="ch" ptType="node" cnt="1">
      <dgm:layoutNode name="parentText1" styleLbl="node1">
        <dgm:varLst>
          <dgm:chMax/>
          <dgm:chPref val="3"/>
          <dgm:bulletEnabled val="1"/>
        </dgm:varLst>
        <dgm:choose name="Name53">
          <dgm:if name="Name54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55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56">
        <dgm:if name="Name57" axis="ch" ptType="node" func="cnt" op="gte" val="1">
          <dgm:layoutNode name="childText1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8"/>
      </dgm:choose>
    </dgm:forEach>
    <dgm:forEach name="Name59" axis="ch" ptType="node" st="2" cnt="1">
      <dgm:layoutNode name="parentText2" styleLbl="node1">
        <dgm:varLst>
          <dgm:chMax/>
          <dgm:chPref val="3"/>
          <dgm:bulletEnabled val="1"/>
        </dgm:varLst>
        <dgm:choose name="Name60">
          <dgm:if name="Name61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2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63">
        <dgm:if name="Name64" axis="ch" ptType="node" func="cnt" op="gte" val="1">
          <dgm:layoutNode name="childText2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5"/>
      </dgm:choose>
    </dgm:forEach>
    <dgm:forEach name="Name66" axis="ch" ptType="node" st="3" cnt="1">
      <dgm:layoutNode name="parentText3" styleLbl="node1">
        <dgm:varLst>
          <dgm:chMax/>
          <dgm:chPref val="3"/>
          <dgm:bulletEnabled val="1"/>
        </dgm:varLst>
        <dgm:choose name="Name67">
          <dgm:if name="Name68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9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0">
        <dgm:if name="Name71" axis="ch" ptType="node" func="cnt" op="gte" val="1">
          <dgm:layoutNode name="childText3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</dgm:forEach>
    <dgm:forEach name="Name73" axis="ch" ptType="node" st="4" cnt="1">
      <dgm:layoutNode name="parentText4" styleLbl="node1">
        <dgm:varLst>
          <dgm:chMax/>
          <dgm:chPref val="3"/>
          <dgm:bulletEnabled val="1"/>
        </dgm:varLst>
        <dgm:choose name="Name74">
          <dgm:if name="Name75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76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7">
        <dgm:if name="Name78" axis="ch" ptType="node" func="cnt" op="gte" val="1">
          <dgm:layoutNode name="childText4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9"/>
      </dgm:choose>
    </dgm:forEach>
    <dgm:forEach name="Name80" axis="ch" ptType="node" st="5" cnt="1">
      <dgm:layoutNode name="parentText5" styleLbl="node1">
        <dgm:varLst>
          <dgm:chMax/>
          <dgm:chPref val="3"/>
          <dgm:bulletEnabled val="1"/>
        </dgm:varLst>
        <dgm:choose name="Name81">
          <dgm:if name="Name82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83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84">
        <dgm:if name="Name85" axis="ch" ptType="node" func="cnt" op="gte" val="1">
          <dgm:layoutNode name="childText5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25/02/2026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MUMPS RPC FRAMEWORK</a:t>
            </a: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6353107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37049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Practically every database in the market has a remote access through sockets</a:t>
            </a:r>
          </a:p>
          <a:p>
            <a:r>
              <a:rPr lang="en-US" dirty="0"/>
              <a:t>One of the main reasons is the growing amount of processed data, leaving horizontal back-end scalability (multiple servers behind a load balancer) accessing a monolithic database a good compromise.</a:t>
            </a:r>
          </a:p>
          <a:p>
            <a:r>
              <a:rPr lang="en-US" dirty="0"/>
              <a:t>At the same time, executing only pure data API running on the server and moving all the business-tiers to external machines increase the power of the database server allowing a monolithic system to handle more traffic.</a:t>
            </a:r>
          </a:p>
          <a:p>
            <a:r>
              <a:rPr lang="en-US" dirty="0" err="1"/>
              <a:t>GTm</a:t>
            </a:r>
            <a:r>
              <a:rPr lang="en-US" dirty="0"/>
              <a:t> and YottaDB don’t have remote access, but I can understand that it is not easy to find the right compromise talking to remote servers with foreign programming languages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73CC-7ECC-7075-0FFC-14EB9A731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026E-8CEF-8EBE-7D93-0A0EE6BAB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6879-A4B1-89EF-4659-2698C7501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That’s why Mind fill all the gaps:</a:t>
            </a:r>
          </a:p>
          <a:p>
            <a:pPr lvl="1"/>
            <a:r>
              <a:rPr lang="en-US" dirty="0"/>
              <a:t>Talks M to M programmers and </a:t>
            </a:r>
            <a:r>
              <a:rPr lang="en-US" dirty="0" err="1"/>
              <a:t>js</a:t>
            </a:r>
            <a:r>
              <a:rPr lang="en-US" dirty="0"/>
              <a:t> / java / Go to remote programmers</a:t>
            </a:r>
          </a:p>
          <a:p>
            <a:pPr lvl="1"/>
            <a:r>
              <a:rPr lang="en-US" dirty="0"/>
              <a:t>Expose data in back-end “standard” formats (data-types, Objects) for smoother integration</a:t>
            </a:r>
          </a:p>
          <a:p>
            <a:r>
              <a:rPr lang="en-US" dirty="0"/>
              <a:t>It is the natural “remote extension” of the multi-language packages YottaDB already offers…</a:t>
            </a:r>
          </a:p>
          <a:p>
            <a:r>
              <a:rPr lang="en-US" dirty="0"/>
              <a:t>It removes the need to have ALL the client’s code running on the database server, which is now the case (and, in some situation, a limitation for potential customers)</a:t>
            </a:r>
          </a:p>
          <a:p>
            <a:r>
              <a:rPr lang="en-US" dirty="0"/>
              <a:t>Why not offer both?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005701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3ABBE-7B4D-2698-854D-2D649576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E851-7CFF-64B0-4456-D720CAF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AAD8-E086-1897-DC4C-F15BFE58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29544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FF8366A-08FC-4B62-F659-F8D275AAC597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C10AFFF-DA9B-3E3C-6714-16FA905FE75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 layer API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1636641" y="1367195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CAA5F59-292A-95B6-42BE-6490A52E7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your (optional) return value data-type</a:t>
            </a:r>
          </a:p>
          <a:p>
            <a:r>
              <a:rPr lang="en-US" dirty="0"/>
              <a:t>Create a tree structure to group your methods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 (in several data-types) that will appear as “properties” in the tree structure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38FE-D592-6E73-C864-BC346F3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and execute M code in 3 minutes</a:t>
            </a:r>
            <a:endParaRPr lang="en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C0FBF0F-89D4-2852-1FC1-C4E591267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5243221"/>
              </p:ext>
            </p:extLst>
          </p:nvPr>
        </p:nvGraphicFramePr>
        <p:xfrm>
          <a:off x="1155700" y="2173357"/>
          <a:ext cx="10015883" cy="4439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1963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F3D6-9CF4-AB0F-7C86-99C919DD4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still have full remote access to YDB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E1B68-CFBA-9041-161A-56428EE83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Built-in objects in the client allow direct access to the following:</a:t>
            </a:r>
          </a:p>
          <a:p>
            <a:pPr lvl="1"/>
            <a:r>
              <a:rPr lang="en-US" dirty="0"/>
              <a:t>Globals</a:t>
            </a:r>
          </a:p>
          <a:p>
            <a:pPr lvl="1"/>
            <a:r>
              <a:rPr lang="en-US" dirty="0"/>
              <a:t>Vars</a:t>
            </a:r>
          </a:p>
          <a:p>
            <a:pPr lvl="1"/>
            <a:r>
              <a:rPr lang="en-US" dirty="0"/>
              <a:t>File system</a:t>
            </a:r>
          </a:p>
          <a:p>
            <a:pPr lvl="1"/>
            <a:r>
              <a:rPr lang="en-US" dirty="0"/>
              <a:t>Process</a:t>
            </a:r>
          </a:p>
          <a:p>
            <a:pPr lvl="1"/>
            <a:r>
              <a:rPr lang="en-US" dirty="0"/>
              <a:t>Server</a:t>
            </a:r>
          </a:p>
          <a:p>
            <a:r>
              <a:rPr lang="en-US" dirty="0"/>
              <a:t>The client-side methods follow the client language syntax and conventions</a:t>
            </a:r>
          </a:p>
        </p:txBody>
      </p:sp>
    </p:spTree>
    <p:extLst>
      <p:ext uri="{BB962C8B-B14F-4D97-AF65-F5344CB8AC3E}">
        <p14:creationId xmlns:p14="http://schemas.microsoft.com/office/powerpoint/2010/main" val="1643443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7F876-DA93-1729-16F9-4679C8BBE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in for the future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36BA7-2755-5F52-756F-939E758F9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DBMS class will expose a JSON / Object database</a:t>
            </a:r>
          </a:p>
          <a:p>
            <a:r>
              <a:rPr lang="en-US" dirty="0"/>
              <a:t>It will allow tables linking in a similar way Fileman does</a:t>
            </a:r>
          </a:p>
          <a:p>
            <a:r>
              <a:rPr lang="en-US" dirty="0"/>
              <a:t>It will support deep-indexing (indexes of fields deep into object props and arrays)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5456717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</TotalTime>
  <Words>807</Words>
  <Application>Microsoft Office PowerPoint</Application>
  <PresentationFormat>Widescreen</PresentationFormat>
  <Paragraphs>94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Century Gothic</vt:lpstr>
      <vt:lpstr>Wingdings 3</vt:lpstr>
      <vt:lpstr>Ion Boardroom</vt:lpstr>
      <vt:lpstr>MIND for YottaDB</vt:lpstr>
      <vt:lpstr>Streamline MUMPS API development with no worries</vt:lpstr>
      <vt:lpstr>Distributed architecture</vt:lpstr>
      <vt:lpstr>Up and running in no time</vt:lpstr>
      <vt:lpstr>Private comment</vt:lpstr>
      <vt:lpstr>Private comment</vt:lpstr>
      <vt:lpstr>RESP3 as network protocol</vt:lpstr>
      <vt:lpstr>Architecture</vt:lpstr>
      <vt:lpstr>All you need is JSON to describe your API</vt:lpstr>
      <vt:lpstr>Create and execute M code in 3 minutes</vt:lpstr>
      <vt:lpstr>Can still have full remote access to YDB</vt:lpstr>
      <vt:lpstr>What’s in for the 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14</cp:revision>
  <dcterms:created xsi:type="dcterms:W3CDTF">2026-02-21T16:55:37Z</dcterms:created>
  <dcterms:modified xsi:type="dcterms:W3CDTF">2026-02-25T13:13:12Z</dcterms:modified>
</cp:coreProperties>
</file>