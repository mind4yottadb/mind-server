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8" r:id="rId3"/>
    <p:sldId id="264" r:id="rId4"/>
    <p:sldId id="259" r:id="rId5"/>
    <p:sldId id="257" r:id="rId6"/>
    <p:sldId id="263" r:id="rId7"/>
    <p:sldId id="260" r:id="rId8"/>
    <p:sldId id="261" r:id="rId9"/>
    <p:sldId id="262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0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Isolate you back-end server(s) from the database</a:t>
          </a:r>
          <a:r>
            <a:rPr lang="en-NL" dirty="0"/>
            <a:t>​</a:t>
          </a:r>
          <a:endParaRPr lang="en-US" dirty="0"/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Execute MUMPS procedure remotely using sockets using your preferred programming language. </a:t>
          </a:r>
        </a:p>
        <a:p>
          <a:pPr>
            <a:lnSpc>
              <a:spcPct val="100000"/>
            </a:lnSpc>
          </a:pPr>
          <a:r>
            <a:rPr lang="en-US" dirty="0"/>
            <a:t>This will isolate your database server from your back-end server(s), allowing horizontal scalability with no worries…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Focus M development on database procedures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By removing the need to write extra code for communication and data conversion, MUMPS programmers can focus on data.</a:t>
          </a:r>
        </a:p>
        <a:p>
          <a:pPr>
            <a:lnSpc>
              <a:spcPct val="100000"/>
            </a:lnSpc>
          </a:pPr>
          <a:r>
            <a:rPr lang="en-US" dirty="0"/>
            <a:t>We natively support JSON / Objects in and out.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Execute your MUMPS code remotely using multiple languages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Your MUMPS code can be remotely executed from several programming languages.</a:t>
          </a:r>
        </a:p>
        <a:p>
          <a:pPr>
            <a:lnSpc>
              <a:spcPct val="100000"/>
            </a:lnSpc>
          </a:pPr>
          <a:endParaRPr lang="en-US" dirty="0"/>
        </a:p>
        <a:p>
          <a:pPr>
            <a:lnSpc>
              <a:spcPct val="100000"/>
            </a:lnSpc>
          </a:pPr>
          <a:r>
            <a:rPr lang="en-US" dirty="0"/>
            <a:t>Currently nodejs is fully supported.</a:t>
          </a:r>
        </a:p>
        <a:p>
          <a:pPr>
            <a:lnSpc>
              <a:spcPct val="100000"/>
            </a:lnSpc>
          </a:pPr>
          <a:r>
            <a:rPr lang="en-US" dirty="0"/>
            <a:t>Soon Java, Go and .NET drivers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DDF2940A-F6E0-4997-AAE2-648645F08E17}" type="presOf" srcId="{06204C76-8052-4671-8722-9895BD95AC98}" destId="{5C90C3CA-0AA3-4EBE-B50C-5D1938624D21}" srcOrd="0" destOrd="0" presId="urn:microsoft.com/office/officeart/2024/3/layout/hArchList1"/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4EB14D50-0BE8-44B7-B0ED-20AF98688208}" type="presOf" srcId="{D594FA1A-CAFE-4FC9-B29F-017F3AF2316D}" destId="{018F7438-E01D-44D7-ADD6-157BC62500E3}" srcOrd="0" destOrd="0" presId="urn:microsoft.com/office/officeart/2024/3/layout/hArchList1"/>
    <dgm:cxn modelId="{8751CB53-A34D-4D74-96E9-F33F78145E44}" type="presOf" srcId="{4C74B0FE-0F44-43D7-940D-B9AF6ABF1025}" destId="{8BB355F9-6CC2-4480-9B7E-D892D65FD34C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F9C27788-6155-4D67-9148-A15D947826D9}" type="presOf" srcId="{E137F926-3C8F-4C45-8350-903EA88D75AF}" destId="{412E2C94-E9BF-4E2B-961F-50EF83661C9E}" srcOrd="0" destOrd="0" presId="urn:microsoft.com/office/officeart/2024/3/layout/hArchList1"/>
    <dgm:cxn modelId="{90D0B78A-3093-48CA-B566-D8F83E1C62F4}" type="presOf" srcId="{FABA06FE-F150-48B5-B3D7-2915E3C41ABD}" destId="{6BD7537A-36A9-42F0-9C36-0D4BA2D0752A}" srcOrd="0" destOrd="0" presId="urn:microsoft.com/office/officeart/2024/3/layout/hArchList1"/>
    <dgm:cxn modelId="{1130308E-6FD5-49B0-A10A-C8B0790C6169}" type="presOf" srcId="{996C4E6A-2C60-4428-8C91-27910EF058EC}" destId="{3171E97B-CDE9-41AD-B264-8ADEE4D73563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F5436CBB-FFC4-476C-A72C-FCC4912D1A20}" type="presOf" srcId="{3AB04008-29BA-487D-8C45-AE18FA21868B}" destId="{4CD37533-18BB-44AF-9438-CA8C06D267FF}" srcOrd="0" destOrd="0" presId="urn:microsoft.com/office/officeart/2024/3/layout/hArchList1"/>
    <dgm:cxn modelId="{9CF0ACC5-0FD7-40B2-9093-A87E6B8E83E0}" type="presOf" srcId="{FBA685A8-C4ED-4A44-BA15-A95087C22363}" destId="{E38D88DE-6630-449F-B815-64F25EB69547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62A3DAFA-BA0C-40A9-B337-7301E3ADE005}" type="presOf" srcId="{768B9187-70A7-4F24-98C9-4549D9A80F20}" destId="{58CF0B87-5490-46B7-A456-64A277CB332C}" srcOrd="0" destOrd="0" presId="urn:microsoft.com/office/officeart/2024/3/layout/hArchList1"/>
    <dgm:cxn modelId="{C8DFC97D-CADE-45F0-96DD-94489EE78FD7}" type="presParOf" srcId="{3171E97B-CDE9-41AD-B264-8ADEE4D73563}" destId="{673D3BE1-0B49-408D-A9B7-2ACE218FD35D}" srcOrd="0" destOrd="0" presId="urn:microsoft.com/office/officeart/2024/3/layout/hArchList1"/>
    <dgm:cxn modelId="{F13F0BE2-ACCE-4C12-839B-62AD62993522}" type="presParOf" srcId="{673D3BE1-0B49-408D-A9B7-2ACE218FD35D}" destId="{018F7438-E01D-44D7-ADD6-157BC62500E3}" srcOrd="0" destOrd="0" presId="urn:microsoft.com/office/officeart/2024/3/layout/hArchList1"/>
    <dgm:cxn modelId="{1A1391E1-C6BB-44AB-BF9E-F4562002FF82}" type="presParOf" srcId="{673D3BE1-0B49-408D-A9B7-2ACE218FD35D}" destId="{5C90C3CA-0AA3-4EBE-B50C-5D1938624D21}" srcOrd="1" destOrd="0" presId="urn:microsoft.com/office/officeart/2024/3/layout/hArchList1"/>
    <dgm:cxn modelId="{4EACBFCC-C883-427C-B9E3-35809C8DB133}" type="presParOf" srcId="{3171E97B-CDE9-41AD-B264-8ADEE4D73563}" destId="{4CD37533-18BB-44AF-9438-CA8C06D267FF}" srcOrd="1" destOrd="0" presId="urn:microsoft.com/office/officeart/2024/3/layout/hArchList1"/>
    <dgm:cxn modelId="{A5517929-948F-417A-96F3-150D5842B989}" type="presParOf" srcId="{3171E97B-CDE9-41AD-B264-8ADEE4D73563}" destId="{4A15BD43-FC5C-486B-BBDD-003A13A15493}" srcOrd="2" destOrd="0" presId="urn:microsoft.com/office/officeart/2024/3/layout/hArchList1"/>
    <dgm:cxn modelId="{7EAB0DCC-4A3E-4BAD-A024-96D02FA83D5F}" type="presParOf" srcId="{4A15BD43-FC5C-486B-BBDD-003A13A15493}" destId="{58CF0B87-5490-46B7-A456-64A277CB332C}" srcOrd="0" destOrd="0" presId="urn:microsoft.com/office/officeart/2024/3/layout/hArchList1"/>
    <dgm:cxn modelId="{BB145198-21E7-4027-A4B9-2726336379E9}" type="presParOf" srcId="{4A15BD43-FC5C-486B-BBDD-003A13A15493}" destId="{8BB355F9-6CC2-4480-9B7E-D892D65FD34C}" srcOrd="1" destOrd="0" presId="urn:microsoft.com/office/officeart/2024/3/layout/hArchList1"/>
    <dgm:cxn modelId="{40989DB8-D07F-4546-8477-1E20B00C5F94}" type="presParOf" srcId="{3171E97B-CDE9-41AD-B264-8ADEE4D73563}" destId="{412E2C94-E9BF-4E2B-961F-50EF83661C9E}" srcOrd="3" destOrd="0" presId="urn:microsoft.com/office/officeart/2024/3/layout/hArchList1"/>
    <dgm:cxn modelId="{79D11CA7-4281-4D51-90B4-FFDA8B7C0A88}" type="presParOf" srcId="{3171E97B-CDE9-41AD-B264-8ADEE4D73563}" destId="{00797D44-CAE9-428C-9B5E-3CE638B13212}" srcOrd="4" destOrd="0" presId="urn:microsoft.com/office/officeart/2024/3/layout/hArchList1"/>
    <dgm:cxn modelId="{55407148-61E0-4DC2-9736-B07C877D2632}" type="presParOf" srcId="{00797D44-CAE9-428C-9B5E-3CE638B13212}" destId="{E38D88DE-6630-449F-B815-64F25EB69547}" srcOrd="0" destOrd="0" presId="urn:microsoft.com/office/officeart/2024/3/layout/hArchList1"/>
    <dgm:cxn modelId="{412E8A68-131D-4EEB-83B1-4DB0F707EED3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Easy to install,</a:t>
          </a:r>
        </a:p>
        <a:p>
          <a:pPr>
            <a:lnSpc>
              <a:spcPct val="100000"/>
            </a:lnSpc>
            <a:defRPr b="1"/>
          </a:pPr>
          <a:r>
            <a:rPr lang="en-US" dirty="0"/>
            <a:t>Simple to run…</a:t>
          </a:r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MIND Server gets installed as standard YottaDB plugin on top of your YottaDB installation with a one-liner command.</a:t>
          </a:r>
        </a:p>
        <a:p>
          <a:pPr>
            <a:lnSpc>
              <a:spcPct val="100000"/>
            </a:lnSpc>
          </a:pPr>
          <a:r>
            <a:rPr lang="en-US" dirty="0"/>
            <a:t>You can then either run it directly of configure it using the .conf file or command line switches.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Designed putting both MUMPS and back-end developers first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Keeping in mind that back-end languages use data-types and Objects, we created data translators to move data to and from YottaDB.</a:t>
          </a:r>
        </a:p>
        <a:p>
          <a:pPr>
            <a:lnSpc>
              <a:spcPct val="100000"/>
            </a:lnSpc>
          </a:pPr>
          <a:r>
            <a:rPr lang="en-US" dirty="0"/>
            <a:t>And, of course, we support JSON in both directions.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ZERO coding needed in the client (back-end) driver.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Once you describe your MUMPS functions / procedure in a JSON file, they will “magically” appear in the client driver and ready to use.</a:t>
          </a:r>
        </a:p>
        <a:p>
          <a:pPr>
            <a:lnSpc>
              <a:spcPct val="100000"/>
            </a:lnSpc>
          </a:pPr>
          <a:r>
            <a:rPr lang="en-US" dirty="0"/>
            <a:t>Additionally, automatic  validation of the supplied parameters is performed with no code needed.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 custLinFactNeighborX="0" custLinFactNeighborY="3582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3DF617-CC3F-4D66-8EA6-35BB1DC8CBA6}" type="presOf" srcId="{4C74B0FE-0F44-43D7-940D-B9AF6ABF1025}" destId="{8BB355F9-6CC2-4480-9B7E-D892D65FD34C}" srcOrd="0" destOrd="0" presId="urn:microsoft.com/office/officeart/2024/3/layout/hArchList1"/>
    <dgm:cxn modelId="{F2BA5920-A477-487A-BF0F-C34CB4B62146}" type="presOf" srcId="{FABA06FE-F150-48B5-B3D7-2915E3C41ABD}" destId="{6BD7537A-36A9-42F0-9C36-0D4BA2D0752A}" srcOrd="0" destOrd="0" presId="urn:microsoft.com/office/officeart/2024/3/layout/hArchList1"/>
    <dgm:cxn modelId="{A340B23A-91D0-462C-A679-3ACAAB787D70}" type="presOf" srcId="{768B9187-70A7-4F24-98C9-4549D9A80F20}" destId="{58CF0B87-5490-46B7-A456-64A277CB332C}" srcOrd="0" destOrd="0" presId="urn:microsoft.com/office/officeart/2024/3/layout/hArchList1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F7F0874F-D139-4205-A17A-D7D9567787E6}" type="presOf" srcId="{996C4E6A-2C60-4428-8C91-27910EF058EC}" destId="{3171E97B-CDE9-41AD-B264-8ADEE4D73563}" srcOrd="0" destOrd="0" presId="urn:microsoft.com/office/officeart/2024/3/layout/hArchList1"/>
    <dgm:cxn modelId="{A939996F-AA57-4AB8-94FF-5D1362537617}" type="presOf" srcId="{3AB04008-29BA-487D-8C45-AE18FA21868B}" destId="{4CD37533-18BB-44AF-9438-CA8C06D267FF}" srcOrd="0" destOrd="0" presId="urn:microsoft.com/office/officeart/2024/3/layout/hArchList1"/>
    <dgm:cxn modelId="{83C57875-C8C0-42D4-A258-93D49EA82CD8}" type="presOf" srcId="{D594FA1A-CAFE-4FC9-B29F-017F3AF2316D}" destId="{018F7438-E01D-44D7-ADD6-157BC62500E3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D7BB7C97-F788-497C-BCAA-B9131F94E09F}" type="presOf" srcId="{06204C76-8052-4671-8722-9895BD95AC98}" destId="{5C90C3CA-0AA3-4EBE-B50C-5D1938624D21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D39160A8-01E5-4CBB-83C0-E26188120B2B}" type="presOf" srcId="{FBA685A8-C4ED-4A44-BA15-A95087C22363}" destId="{E38D88DE-6630-449F-B815-64F25EB69547}" srcOrd="0" destOrd="0" presId="urn:microsoft.com/office/officeart/2024/3/layout/hArchList1"/>
    <dgm:cxn modelId="{2D4E08CE-615F-4DDD-B3D3-2BFE9E67E070}" type="presOf" srcId="{E137F926-3C8F-4C45-8350-903EA88D75AF}" destId="{412E2C94-E9BF-4E2B-961F-50EF83661C9E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582F0F5E-244F-45D2-B023-A57BD75D1EC1}" type="presParOf" srcId="{3171E97B-CDE9-41AD-B264-8ADEE4D73563}" destId="{673D3BE1-0B49-408D-A9B7-2ACE218FD35D}" srcOrd="0" destOrd="0" presId="urn:microsoft.com/office/officeart/2024/3/layout/hArchList1"/>
    <dgm:cxn modelId="{A548ED9C-046D-4BB1-8D3C-6FD046C27F60}" type="presParOf" srcId="{673D3BE1-0B49-408D-A9B7-2ACE218FD35D}" destId="{018F7438-E01D-44D7-ADD6-157BC62500E3}" srcOrd="0" destOrd="0" presId="urn:microsoft.com/office/officeart/2024/3/layout/hArchList1"/>
    <dgm:cxn modelId="{5643C7C9-5160-4BEC-9A38-173A21075E9B}" type="presParOf" srcId="{673D3BE1-0B49-408D-A9B7-2ACE218FD35D}" destId="{5C90C3CA-0AA3-4EBE-B50C-5D1938624D21}" srcOrd="1" destOrd="0" presId="urn:microsoft.com/office/officeart/2024/3/layout/hArchList1"/>
    <dgm:cxn modelId="{503658CB-B4DE-40D1-A7FE-6D4AA57F070B}" type="presParOf" srcId="{3171E97B-CDE9-41AD-B264-8ADEE4D73563}" destId="{4CD37533-18BB-44AF-9438-CA8C06D267FF}" srcOrd="1" destOrd="0" presId="urn:microsoft.com/office/officeart/2024/3/layout/hArchList1"/>
    <dgm:cxn modelId="{B502C618-10E0-4DFC-8F21-DC74D44E314E}" type="presParOf" srcId="{3171E97B-CDE9-41AD-B264-8ADEE4D73563}" destId="{4A15BD43-FC5C-486B-BBDD-003A13A15493}" srcOrd="2" destOrd="0" presId="urn:microsoft.com/office/officeart/2024/3/layout/hArchList1"/>
    <dgm:cxn modelId="{74482876-705F-4982-9BF6-7250ABFA8208}" type="presParOf" srcId="{4A15BD43-FC5C-486B-BBDD-003A13A15493}" destId="{58CF0B87-5490-46B7-A456-64A277CB332C}" srcOrd="0" destOrd="0" presId="urn:microsoft.com/office/officeart/2024/3/layout/hArchList1"/>
    <dgm:cxn modelId="{86291A9B-A7BD-4A17-9FA3-73B5F1192B26}" type="presParOf" srcId="{4A15BD43-FC5C-486B-BBDD-003A13A15493}" destId="{8BB355F9-6CC2-4480-9B7E-D892D65FD34C}" srcOrd="1" destOrd="0" presId="urn:microsoft.com/office/officeart/2024/3/layout/hArchList1"/>
    <dgm:cxn modelId="{C6516519-8B52-440E-94E2-D6A7B633422D}" type="presParOf" srcId="{3171E97B-CDE9-41AD-B264-8ADEE4D73563}" destId="{412E2C94-E9BF-4E2B-961F-50EF83661C9E}" srcOrd="3" destOrd="0" presId="urn:microsoft.com/office/officeart/2024/3/layout/hArchList1"/>
    <dgm:cxn modelId="{45AFFFFC-BE63-4F53-B4D2-90F1E0549280}" type="presParOf" srcId="{3171E97B-CDE9-41AD-B264-8ADEE4D73563}" destId="{00797D44-CAE9-428C-9B5E-3CE638B13212}" srcOrd="4" destOrd="0" presId="urn:microsoft.com/office/officeart/2024/3/layout/hArchList1"/>
    <dgm:cxn modelId="{51AF1C5B-A6A3-4F7E-9193-00ED0BBF587E}" type="presParOf" srcId="{00797D44-CAE9-428C-9B5E-3CE638B13212}" destId="{E38D88DE-6630-449F-B815-64F25EB69547}" srcOrd="0" destOrd="0" presId="urn:microsoft.com/office/officeart/2024/3/layout/hArchList1"/>
    <dgm:cxn modelId="{8A06BC44-10F2-41E6-A83A-BD9AC8EC5EB6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Simple to install,</a:t>
          </a:r>
        </a:p>
        <a:p>
          <a:pPr>
            <a:lnSpc>
              <a:spcPct val="100000"/>
            </a:lnSpc>
            <a:defRPr b="1"/>
          </a:pPr>
          <a:r>
            <a:rPr lang="en-US" dirty="0"/>
            <a:t>Simple to run…</a:t>
          </a:r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MIND Server gets installed as standard YottaDB plugin on top of your YottaDB installation with a one-liner command.</a:t>
          </a:r>
        </a:p>
        <a:p>
          <a:pPr>
            <a:lnSpc>
              <a:spcPct val="100000"/>
            </a:lnSpc>
          </a:pPr>
          <a:r>
            <a:rPr lang="en-US" dirty="0"/>
            <a:t>You can then either run it directly of configure it using the .conf file or command line switches.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Designed putting both MUMPS and back-end developers first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Keeping in mind that back-end languages use data-types and Objects, we created data translators to move data to and from YottaDB.</a:t>
          </a:r>
        </a:p>
        <a:p>
          <a:pPr>
            <a:lnSpc>
              <a:spcPct val="100000"/>
            </a:lnSpc>
          </a:pPr>
          <a:r>
            <a:rPr lang="en-US" dirty="0"/>
            <a:t>And, of course, we support JSON in both directions.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ZERO coding needed in the client (back-end) driver.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Once you describe your MUMPS functions / procedure in a JSON file, they will “magically” appear in the client driver and ready to use.</a:t>
          </a:r>
        </a:p>
        <a:p>
          <a:pPr>
            <a:lnSpc>
              <a:spcPct val="100000"/>
            </a:lnSpc>
          </a:pPr>
          <a:r>
            <a:rPr lang="en-US" dirty="0"/>
            <a:t>Additionally, they will also perform validation of the supplied parameters.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 custLinFactNeighborX="0" custLinFactNeighborY="3582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3DF617-CC3F-4D66-8EA6-35BB1DC8CBA6}" type="presOf" srcId="{4C74B0FE-0F44-43D7-940D-B9AF6ABF1025}" destId="{8BB355F9-6CC2-4480-9B7E-D892D65FD34C}" srcOrd="0" destOrd="0" presId="urn:microsoft.com/office/officeart/2024/3/layout/hArchList1"/>
    <dgm:cxn modelId="{F2BA5920-A477-487A-BF0F-C34CB4B62146}" type="presOf" srcId="{FABA06FE-F150-48B5-B3D7-2915E3C41ABD}" destId="{6BD7537A-36A9-42F0-9C36-0D4BA2D0752A}" srcOrd="0" destOrd="0" presId="urn:microsoft.com/office/officeart/2024/3/layout/hArchList1"/>
    <dgm:cxn modelId="{A340B23A-91D0-462C-A679-3ACAAB787D70}" type="presOf" srcId="{768B9187-70A7-4F24-98C9-4549D9A80F20}" destId="{58CF0B87-5490-46B7-A456-64A277CB332C}" srcOrd="0" destOrd="0" presId="urn:microsoft.com/office/officeart/2024/3/layout/hArchList1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F7F0874F-D139-4205-A17A-D7D9567787E6}" type="presOf" srcId="{996C4E6A-2C60-4428-8C91-27910EF058EC}" destId="{3171E97B-CDE9-41AD-B264-8ADEE4D73563}" srcOrd="0" destOrd="0" presId="urn:microsoft.com/office/officeart/2024/3/layout/hArchList1"/>
    <dgm:cxn modelId="{A939996F-AA57-4AB8-94FF-5D1362537617}" type="presOf" srcId="{3AB04008-29BA-487D-8C45-AE18FA21868B}" destId="{4CD37533-18BB-44AF-9438-CA8C06D267FF}" srcOrd="0" destOrd="0" presId="urn:microsoft.com/office/officeart/2024/3/layout/hArchList1"/>
    <dgm:cxn modelId="{83C57875-C8C0-42D4-A258-93D49EA82CD8}" type="presOf" srcId="{D594FA1A-CAFE-4FC9-B29F-017F3AF2316D}" destId="{018F7438-E01D-44D7-ADD6-157BC62500E3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D7BB7C97-F788-497C-BCAA-B9131F94E09F}" type="presOf" srcId="{06204C76-8052-4671-8722-9895BD95AC98}" destId="{5C90C3CA-0AA3-4EBE-B50C-5D1938624D21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D39160A8-01E5-4CBB-83C0-E26188120B2B}" type="presOf" srcId="{FBA685A8-C4ED-4A44-BA15-A95087C22363}" destId="{E38D88DE-6630-449F-B815-64F25EB69547}" srcOrd="0" destOrd="0" presId="urn:microsoft.com/office/officeart/2024/3/layout/hArchList1"/>
    <dgm:cxn modelId="{2D4E08CE-615F-4DDD-B3D3-2BFE9E67E070}" type="presOf" srcId="{E137F926-3C8F-4C45-8350-903EA88D75AF}" destId="{412E2C94-E9BF-4E2B-961F-50EF83661C9E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582F0F5E-244F-45D2-B023-A57BD75D1EC1}" type="presParOf" srcId="{3171E97B-CDE9-41AD-B264-8ADEE4D73563}" destId="{673D3BE1-0B49-408D-A9B7-2ACE218FD35D}" srcOrd="0" destOrd="0" presId="urn:microsoft.com/office/officeart/2024/3/layout/hArchList1"/>
    <dgm:cxn modelId="{A548ED9C-046D-4BB1-8D3C-6FD046C27F60}" type="presParOf" srcId="{673D3BE1-0B49-408D-A9B7-2ACE218FD35D}" destId="{018F7438-E01D-44D7-ADD6-157BC62500E3}" srcOrd="0" destOrd="0" presId="urn:microsoft.com/office/officeart/2024/3/layout/hArchList1"/>
    <dgm:cxn modelId="{5643C7C9-5160-4BEC-9A38-173A21075E9B}" type="presParOf" srcId="{673D3BE1-0B49-408D-A9B7-2ACE218FD35D}" destId="{5C90C3CA-0AA3-4EBE-B50C-5D1938624D21}" srcOrd="1" destOrd="0" presId="urn:microsoft.com/office/officeart/2024/3/layout/hArchList1"/>
    <dgm:cxn modelId="{503658CB-B4DE-40D1-A7FE-6D4AA57F070B}" type="presParOf" srcId="{3171E97B-CDE9-41AD-B264-8ADEE4D73563}" destId="{4CD37533-18BB-44AF-9438-CA8C06D267FF}" srcOrd="1" destOrd="0" presId="urn:microsoft.com/office/officeart/2024/3/layout/hArchList1"/>
    <dgm:cxn modelId="{B502C618-10E0-4DFC-8F21-DC74D44E314E}" type="presParOf" srcId="{3171E97B-CDE9-41AD-B264-8ADEE4D73563}" destId="{4A15BD43-FC5C-486B-BBDD-003A13A15493}" srcOrd="2" destOrd="0" presId="urn:microsoft.com/office/officeart/2024/3/layout/hArchList1"/>
    <dgm:cxn modelId="{74482876-705F-4982-9BF6-7250ABFA8208}" type="presParOf" srcId="{4A15BD43-FC5C-486B-BBDD-003A13A15493}" destId="{58CF0B87-5490-46B7-A456-64A277CB332C}" srcOrd="0" destOrd="0" presId="urn:microsoft.com/office/officeart/2024/3/layout/hArchList1"/>
    <dgm:cxn modelId="{86291A9B-A7BD-4A17-9FA3-73B5F1192B26}" type="presParOf" srcId="{4A15BD43-FC5C-486B-BBDD-003A13A15493}" destId="{8BB355F9-6CC2-4480-9B7E-D892D65FD34C}" srcOrd="1" destOrd="0" presId="urn:microsoft.com/office/officeart/2024/3/layout/hArchList1"/>
    <dgm:cxn modelId="{C6516519-8B52-440E-94E2-D6A7B633422D}" type="presParOf" srcId="{3171E97B-CDE9-41AD-B264-8ADEE4D73563}" destId="{412E2C94-E9BF-4E2B-961F-50EF83661C9E}" srcOrd="3" destOrd="0" presId="urn:microsoft.com/office/officeart/2024/3/layout/hArchList1"/>
    <dgm:cxn modelId="{45AFFFFC-BE63-4F53-B4D2-90F1E0549280}" type="presParOf" srcId="{3171E97B-CDE9-41AD-B264-8ADEE4D73563}" destId="{00797D44-CAE9-428C-9B5E-3CE638B13212}" srcOrd="4" destOrd="0" presId="urn:microsoft.com/office/officeart/2024/3/layout/hArchList1"/>
    <dgm:cxn modelId="{51AF1C5B-A6A3-4F7E-9193-00ED0BBF587E}" type="presParOf" srcId="{00797D44-CAE9-428C-9B5E-3CE638B13212}" destId="{E38D88DE-6630-449F-B815-64F25EB69547}" srcOrd="0" destOrd="0" presId="urn:microsoft.com/office/officeart/2024/3/layout/hArchList1"/>
    <dgm:cxn modelId="{8A06BC44-10F2-41E6-A83A-BD9AC8EC5EB6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Isolate you back-end server(s) from the database</a:t>
          </a:r>
          <a:r>
            <a:rPr lang="en-NL" sz="1800" kern="1200" dirty="0"/>
            <a:t>​</a:t>
          </a:r>
          <a:endParaRPr lang="en-US" sz="1800" kern="1200" dirty="0"/>
        </a:p>
      </dsp:txBody>
      <dsp:txXfrm>
        <a:off x="0" y="0"/>
        <a:ext cx="2587153" cy="902201"/>
      </dsp:txXfrm>
    </dsp:sp>
    <dsp:sp modelId="{5C90C3CA-0AA3-4EBE-B50C-5D1938624D21}">
      <dsp:nvSpPr>
        <dsp:cNvPr id="0" name=""/>
        <dsp:cNvSpPr/>
      </dsp:nvSpPr>
      <dsp:spPr>
        <a:xfrm>
          <a:off x="0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Execute MUMPS procedure remotely using sockets using your preferred programming language. 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This will isolate your database server from your back-end server(s), allowing horizontal scalability with no worries…</a:t>
          </a:r>
        </a:p>
      </dsp:txBody>
      <dsp:txXfrm>
        <a:off x="0" y="902201"/>
        <a:ext cx="2587153" cy="237122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Focus M development on database procedures</a:t>
          </a:r>
        </a:p>
      </dsp:txBody>
      <dsp:txXfrm>
        <a:off x="2845869" y="0"/>
        <a:ext cx="2587153" cy="902201"/>
      </dsp:txXfrm>
    </dsp:sp>
    <dsp:sp modelId="{8BB355F9-6CC2-4480-9B7E-D892D65FD34C}">
      <dsp:nvSpPr>
        <dsp:cNvPr id="0" name=""/>
        <dsp:cNvSpPr/>
      </dsp:nvSpPr>
      <dsp:spPr>
        <a:xfrm>
          <a:off x="2845869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By removing the need to write extra code for communication and data conversion, MUMPS programmers can focus on data.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We natively support JSON / Objects in and out.</a:t>
          </a:r>
        </a:p>
      </dsp:txBody>
      <dsp:txXfrm>
        <a:off x="2845869" y="902201"/>
        <a:ext cx="2587153" cy="237122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Execute your MUMPS code remotely using multiple languages</a:t>
          </a:r>
        </a:p>
      </dsp:txBody>
      <dsp:txXfrm>
        <a:off x="5691738" y="0"/>
        <a:ext cx="2587153" cy="902201"/>
      </dsp:txXfrm>
    </dsp:sp>
    <dsp:sp modelId="{6BD7537A-36A9-42F0-9C36-0D4BA2D0752A}">
      <dsp:nvSpPr>
        <dsp:cNvPr id="0" name=""/>
        <dsp:cNvSpPr/>
      </dsp:nvSpPr>
      <dsp:spPr>
        <a:xfrm>
          <a:off x="5691738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Your MUMPS code can be remotely executed from several programming languages.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Currently nodejs is fully supported.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Soon Java, Go and .NET drivers</a:t>
          </a:r>
        </a:p>
      </dsp:txBody>
      <dsp:txXfrm>
        <a:off x="5691738" y="902201"/>
        <a:ext cx="2587153" cy="237122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Easy to install,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Simple to run…</a:t>
          </a:r>
        </a:p>
      </dsp:txBody>
      <dsp:txXfrm>
        <a:off x="0" y="0"/>
        <a:ext cx="2587153" cy="846926"/>
      </dsp:txXfrm>
    </dsp:sp>
    <dsp:sp modelId="{5C90C3CA-0AA3-4EBE-B50C-5D1938624D21}">
      <dsp:nvSpPr>
        <dsp:cNvPr id="0" name=""/>
        <dsp:cNvSpPr/>
      </dsp:nvSpPr>
      <dsp:spPr>
        <a:xfrm>
          <a:off x="0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MIND Server gets installed as standard YottaDB plugin on top of your YottaDB installation with a one-liner command.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You can then either run it directly of configure it using the .conf file or command line switches.</a:t>
          </a:r>
        </a:p>
      </dsp:txBody>
      <dsp:txXfrm>
        <a:off x="0" y="846926"/>
        <a:ext cx="2587153" cy="223856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Designed putting both MUMPS and back-end developers first</a:t>
          </a:r>
        </a:p>
      </dsp:txBody>
      <dsp:txXfrm>
        <a:off x="2845869" y="0"/>
        <a:ext cx="2587153" cy="846926"/>
      </dsp:txXfrm>
    </dsp:sp>
    <dsp:sp modelId="{8BB355F9-6CC2-4480-9B7E-D892D65FD34C}">
      <dsp:nvSpPr>
        <dsp:cNvPr id="0" name=""/>
        <dsp:cNvSpPr/>
      </dsp:nvSpPr>
      <dsp:spPr>
        <a:xfrm>
          <a:off x="2845869" y="927112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Keeping in mind that back-end languages use data-types and Objects, we created data translators to move data to and from YottaDB.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And, of course, we support JSON in both directions.</a:t>
          </a:r>
        </a:p>
      </dsp:txBody>
      <dsp:txXfrm>
        <a:off x="2845869" y="927112"/>
        <a:ext cx="2587153" cy="223856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ZERO coding needed in the client (back-end) driver.</a:t>
          </a:r>
        </a:p>
      </dsp:txBody>
      <dsp:txXfrm>
        <a:off x="5691738" y="0"/>
        <a:ext cx="2587153" cy="846926"/>
      </dsp:txXfrm>
    </dsp:sp>
    <dsp:sp modelId="{6BD7537A-36A9-42F0-9C36-0D4BA2D0752A}">
      <dsp:nvSpPr>
        <dsp:cNvPr id="0" name=""/>
        <dsp:cNvSpPr/>
      </dsp:nvSpPr>
      <dsp:spPr>
        <a:xfrm>
          <a:off x="5691738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Once you describe your MUMPS functions / procedure in a JSON file, they will “magically” appear in the client driver and ready to use.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Additionally, automatic  validation of the supplied parameters is performed with no code needed.</a:t>
          </a:r>
        </a:p>
      </dsp:txBody>
      <dsp:txXfrm>
        <a:off x="5691738" y="846926"/>
        <a:ext cx="2587153" cy="223856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Simple to install,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Simple to run…</a:t>
          </a:r>
        </a:p>
      </dsp:txBody>
      <dsp:txXfrm>
        <a:off x="0" y="0"/>
        <a:ext cx="2587153" cy="846926"/>
      </dsp:txXfrm>
    </dsp:sp>
    <dsp:sp modelId="{5C90C3CA-0AA3-4EBE-B50C-5D1938624D21}">
      <dsp:nvSpPr>
        <dsp:cNvPr id="0" name=""/>
        <dsp:cNvSpPr/>
      </dsp:nvSpPr>
      <dsp:spPr>
        <a:xfrm>
          <a:off x="0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MIND Server gets installed as standard YottaDB plugin on top of your YottaDB installation with a one-liner command.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You can then either run it directly of configure it using the .conf file or command line switches.</a:t>
          </a:r>
        </a:p>
      </dsp:txBody>
      <dsp:txXfrm>
        <a:off x="0" y="846926"/>
        <a:ext cx="2587153" cy="223856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Designed putting both MUMPS and back-end developers first</a:t>
          </a:r>
        </a:p>
      </dsp:txBody>
      <dsp:txXfrm>
        <a:off x="2845869" y="0"/>
        <a:ext cx="2587153" cy="846926"/>
      </dsp:txXfrm>
    </dsp:sp>
    <dsp:sp modelId="{8BB355F9-6CC2-4480-9B7E-D892D65FD34C}">
      <dsp:nvSpPr>
        <dsp:cNvPr id="0" name=""/>
        <dsp:cNvSpPr/>
      </dsp:nvSpPr>
      <dsp:spPr>
        <a:xfrm>
          <a:off x="2845869" y="927112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Keeping in mind that back-end languages use data-types and Objects, we created data translators to move data to and from YottaDB.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And, of course, we support JSON in both directions.</a:t>
          </a:r>
        </a:p>
      </dsp:txBody>
      <dsp:txXfrm>
        <a:off x="2845869" y="927112"/>
        <a:ext cx="2587153" cy="223856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ZERO coding needed in the client (back-end) driver.</a:t>
          </a:r>
        </a:p>
      </dsp:txBody>
      <dsp:txXfrm>
        <a:off x="5691738" y="0"/>
        <a:ext cx="2587153" cy="846926"/>
      </dsp:txXfrm>
    </dsp:sp>
    <dsp:sp modelId="{6BD7537A-36A9-42F0-9C36-0D4BA2D0752A}">
      <dsp:nvSpPr>
        <dsp:cNvPr id="0" name=""/>
        <dsp:cNvSpPr/>
      </dsp:nvSpPr>
      <dsp:spPr>
        <a:xfrm>
          <a:off x="5691738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Once you describe your MUMPS functions / procedure in a JSON file, they will “magically” appear in the client driver and ready to use.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Additionally, they will also perform validation of the supplied parameters.</a:t>
          </a:r>
        </a:p>
      </dsp:txBody>
      <dsp:txXfrm>
        <a:off x="5691738" y="846926"/>
        <a:ext cx="2587153" cy="223856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01042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1231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6907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28144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18669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042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25575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36550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85835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48834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94170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352224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60721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885940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99170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753078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05399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NL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27729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43105-87DE-933C-2922-45EAB18CD7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6490" y="710353"/>
            <a:ext cx="4626709" cy="5122985"/>
          </a:xfrm>
        </p:spPr>
        <p:txBody>
          <a:bodyPr anchor="t">
            <a:normAutofit/>
          </a:bodyPr>
          <a:lstStyle/>
          <a:p>
            <a:pPr algn="r"/>
            <a:r>
              <a:rPr lang="en-US" sz="8000" dirty="0">
                <a:solidFill>
                  <a:srgbClr val="FFFFFF"/>
                </a:solidFill>
              </a:rPr>
              <a:t>MIND for YottaDB</a:t>
            </a:r>
            <a:endParaRPr lang="en-NL" sz="80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5D5CD-97C2-8F1E-2C9D-A821A6270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92994" y="3681638"/>
            <a:ext cx="5672176" cy="1503005"/>
          </a:xfrm>
        </p:spPr>
        <p:txBody>
          <a:bodyPr>
            <a:normAutofit/>
          </a:bodyPr>
          <a:lstStyle/>
          <a:p>
            <a:pPr algn="l"/>
            <a:r>
              <a:rPr lang="en-US" sz="4400" dirty="0">
                <a:solidFill>
                  <a:srgbClr val="FFFFFF"/>
                </a:solidFill>
              </a:rPr>
              <a:t>A remote MUMPS API Framework</a:t>
            </a:r>
            <a:endParaRPr lang="en-NL" sz="44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864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A599D-DBE5-8AF5-401F-90FC43402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b">
            <a:normAutofit/>
          </a:bodyPr>
          <a:lstStyle/>
          <a:p>
            <a:r>
              <a:rPr lang="en-US" dirty="0"/>
              <a:t>Streamline MUMPS API development with no worries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C1D56428-A62A-F147-4135-9F747780E3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86543872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19192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42365-D6CF-DCC8-2123-A23EE2E67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D30CC-8AAB-925E-E6E3-3FC92EE1C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architecture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201A6-1E38-AF8A-F281-E4573822C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/>
              <a:t>Allow you to execute ONLY database related code on the MUMPS server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Allow you to have multiple back-end servers, sharing the same database, to cope with increasing traffic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Keep the power and speed of the M language for pure database access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Use your preferred language for the back-end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34243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51CB98-4580-8873-E0DA-866BC6914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E169-56FE-4A21-427D-DC0431FB1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t" anchorCtr="0">
            <a:normAutofit/>
          </a:bodyPr>
          <a:lstStyle/>
          <a:p>
            <a:r>
              <a:rPr lang="en-US" dirty="0"/>
              <a:t>Up and running in no time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1D5E5915-97B8-217F-6F2E-42601C6BF6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0370495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3263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D5D0B-3FF4-4FED-DDC8-D173C4403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RESP3 as network protocol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D4B7A-F343-5BCB-94C9-E80EB92EE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Introduced by the REDIS storage</a:t>
            </a:r>
          </a:p>
          <a:p>
            <a:r>
              <a:rPr lang="en-US" dirty="0"/>
              <a:t>Simple and easy to parse protocol</a:t>
            </a:r>
          </a:p>
          <a:p>
            <a:r>
              <a:rPr lang="en-US" dirty="0"/>
              <a:t>Solid, fast and safe</a:t>
            </a:r>
          </a:p>
          <a:p>
            <a:r>
              <a:rPr lang="en-US" dirty="0"/>
              <a:t>RESP3 is better than RESP2</a:t>
            </a:r>
          </a:p>
          <a:p>
            <a:pPr lvl="1"/>
            <a:r>
              <a:rPr lang="en-US" dirty="0"/>
              <a:t>It supports more data types than RESP2</a:t>
            </a:r>
          </a:p>
          <a:p>
            <a:pPr lvl="1"/>
            <a:r>
              <a:rPr lang="en-US" dirty="0"/>
              <a:t>It supports async transfers</a:t>
            </a:r>
          </a:p>
          <a:p>
            <a:pPr lvl="1"/>
            <a:r>
              <a:rPr lang="en-US" dirty="0"/>
              <a:t>It supports Verbatim binary strings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240125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FF7B5-E215-15E8-0E6C-7178052DD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0A8FE-96E8-FA6D-4016-D8C764F75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en-N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0AC605C-D752-F116-AA72-B9CF1DB4E3CE}"/>
              </a:ext>
            </a:extLst>
          </p:cNvPr>
          <p:cNvSpPr/>
          <p:nvPr/>
        </p:nvSpPr>
        <p:spPr>
          <a:xfrm>
            <a:off x="7259541" y="2668657"/>
            <a:ext cx="3633746" cy="3617843"/>
          </a:xfrm>
          <a:prstGeom prst="round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FF8366A-08FC-4B62-F659-F8D275AAC597}"/>
              </a:ext>
            </a:extLst>
          </p:cNvPr>
          <p:cNvSpPr/>
          <p:nvPr/>
        </p:nvSpPr>
        <p:spPr>
          <a:xfrm>
            <a:off x="1338470" y="305164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(nodejs)</a:t>
            </a:r>
            <a:endParaRPr lang="en-N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C10AFFF-DA9B-3E3C-6714-16FA905FE75B}"/>
              </a:ext>
            </a:extLst>
          </p:cNvPr>
          <p:cNvSpPr/>
          <p:nvPr/>
        </p:nvSpPr>
        <p:spPr>
          <a:xfrm>
            <a:off x="1338470" y="405218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(Go)</a:t>
            </a:r>
            <a:endParaRPr lang="en-N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9EED33-E607-5CC0-F47D-6A0AFB9DA403}"/>
              </a:ext>
            </a:extLst>
          </p:cNvPr>
          <p:cNvSpPr/>
          <p:nvPr/>
        </p:nvSpPr>
        <p:spPr>
          <a:xfrm>
            <a:off x="1338470" y="513886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(Python)</a:t>
            </a:r>
            <a:endParaRPr lang="en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CD2DF9-1A6F-572C-266F-0B79035EC816}"/>
              </a:ext>
            </a:extLst>
          </p:cNvPr>
          <p:cNvSpPr txBox="1"/>
          <p:nvPr/>
        </p:nvSpPr>
        <p:spPr>
          <a:xfrm>
            <a:off x="9558414" y="5156235"/>
            <a:ext cx="1457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YottaDB</a:t>
            </a:r>
          </a:p>
          <a:p>
            <a:r>
              <a:rPr lang="en-US" b="1" dirty="0">
                <a:solidFill>
                  <a:srgbClr val="FFFF00"/>
                </a:solidFill>
              </a:rPr>
              <a:t>database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AF0D4D83-FFB9-D812-E11C-71E50A30BBF9}"/>
              </a:ext>
            </a:extLst>
          </p:cNvPr>
          <p:cNvSpPr/>
          <p:nvPr/>
        </p:nvSpPr>
        <p:spPr>
          <a:xfrm>
            <a:off x="2888974" y="3098027"/>
            <a:ext cx="4723406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37A13D67-DA82-D27B-6B88-B1E07FC7209E}"/>
              </a:ext>
            </a:extLst>
          </p:cNvPr>
          <p:cNvSpPr/>
          <p:nvPr/>
        </p:nvSpPr>
        <p:spPr>
          <a:xfrm>
            <a:off x="2888972" y="4138324"/>
            <a:ext cx="4723405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E3BA8613-48BA-FC8A-8823-DD4BC9ECEC69}"/>
              </a:ext>
            </a:extLst>
          </p:cNvPr>
          <p:cNvSpPr/>
          <p:nvPr/>
        </p:nvSpPr>
        <p:spPr>
          <a:xfrm>
            <a:off x="2888974" y="5198496"/>
            <a:ext cx="4723403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3FD9E1B-31B3-11F8-6801-4F5297EB0750}"/>
              </a:ext>
            </a:extLst>
          </p:cNvPr>
          <p:cNvSpPr/>
          <p:nvPr/>
        </p:nvSpPr>
        <p:spPr>
          <a:xfrm>
            <a:off x="7612380" y="2900238"/>
            <a:ext cx="1690646" cy="3154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40358C-B79C-34E5-32A6-106D5E7E633D}"/>
              </a:ext>
            </a:extLst>
          </p:cNvPr>
          <p:cNvSpPr txBox="1"/>
          <p:nvPr/>
        </p:nvSpPr>
        <p:spPr>
          <a:xfrm>
            <a:off x="8174125" y="4099659"/>
            <a:ext cx="978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MIND server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C6488715-68F2-020C-4B9A-E33D36AF0032}"/>
              </a:ext>
            </a:extLst>
          </p:cNvPr>
          <p:cNvSpPr/>
          <p:nvPr/>
        </p:nvSpPr>
        <p:spPr>
          <a:xfrm>
            <a:off x="7831537" y="1324137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Data layer API</a:t>
            </a:r>
            <a:endParaRPr lang="en-NL" dirty="0"/>
          </a:p>
        </p:txBody>
      </p: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05AB315C-7E24-E436-A427-145E05EB83D4}"/>
              </a:ext>
            </a:extLst>
          </p:cNvPr>
          <p:cNvSpPr/>
          <p:nvPr/>
        </p:nvSpPr>
        <p:spPr>
          <a:xfrm>
            <a:off x="1636641" y="1367195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Back-end</a:t>
            </a:r>
          </a:p>
          <a:p>
            <a:pPr algn="ctr"/>
            <a:r>
              <a:rPr lang="en-US" dirty="0"/>
              <a:t>API</a:t>
            </a:r>
            <a:endParaRPr lang="en-NL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CAA5F59-292A-95B6-42BE-6490A52E7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259193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3D21D-EF3C-1ED8-EACA-F923DB42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you need is JSON to describe your API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49666-8BA1-23D6-229C-0AB369441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Describe your procedures / functions with parameters name and data-types</a:t>
            </a:r>
          </a:p>
          <a:p>
            <a:r>
              <a:rPr lang="en-US" dirty="0"/>
              <a:t>Describe you return value data-type</a:t>
            </a:r>
          </a:p>
          <a:p>
            <a:r>
              <a:rPr lang="en-US" dirty="0"/>
              <a:t>Create a tree structure to group your methods</a:t>
            </a:r>
          </a:p>
          <a:p>
            <a:r>
              <a:rPr lang="en-US" dirty="0"/>
              <a:t>Optionally, add M shared variables names to keep process-context in place</a:t>
            </a:r>
          </a:p>
          <a:p>
            <a:r>
              <a:rPr lang="en-US" dirty="0"/>
              <a:t>Optionally, add read-only value (in several data-types) that will appear as “properties” in the tree structure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9588016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6DC185-0273-5F80-868C-0BB3B7C23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7AA2B-1A44-5B47-5FA9-76DF0396F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b">
            <a:normAutofit/>
          </a:bodyPr>
          <a:lstStyle/>
          <a:p>
            <a:r>
              <a:rPr lang="en-US" dirty="0" err="1"/>
              <a:t>fdssdf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088B2664-C99A-188C-C5EF-0529B0374B0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601015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F909B-EE31-EFAE-7A0A-716460177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client topology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D319E-4957-2EE4-4C13-0595662B4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3037840"/>
            <a:ext cx="8825659" cy="3416300"/>
          </a:xfrm>
        </p:spPr>
        <p:txBody>
          <a:bodyPr/>
          <a:lstStyle/>
          <a:p>
            <a:endParaRPr lang="en-N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2F072E5-7887-F607-BF39-D96818D9FA72}"/>
              </a:ext>
            </a:extLst>
          </p:cNvPr>
          <p:cNvSpPr/>
          <p:nvPr/>
        </p:nvSpPr>
        <p:spPr>
          <a:xfrm>
            <a:off x="7259541" y="2668657"/>
            <a:ext cx="3633746" cy="3617843"/>
          </a:xfrm>
          <a:prstGeom prst="round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6498F2A-2B3E-EC6E-3370-BDA6ECEEBCD1}"/>
              </a:ext>
            </a:extLst>
          </p:cNvPr>
          <p:cNvSpPr/>
          <p:nvPr/>
        </p:nvSpPr>
        <p:spPr>
          <a:xfrm>
            <a:off x="1338470" y="305164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(nodejs)</a:t>
            </a:r>
            <a:endParaRPr lang="en-N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617F3A1-D3FE-2883-548B-55FBC5FAB49B}"/>
              </a:ext>
            </a:extLst>
          </p:cNvPr>
          <p:cNvSpPr/>
          <p:nvPr/>
        </p:nvSpPr>
        <p:spPr>
          <a:xfrm>
            <a:off x="1338470" y="405218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(Go)</a:t>
            </a:r>
            <a:endParaRPr lang="en-N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7CB8825-4B0A-2B99-5CCA-B5B43ED68D5E}"/>
              </a:ext>
            </a:extLst>
          </p:cNvPr>
          <p:cNvSpPr/>
          <p:nvPr/>
        </p:nvSpPr>
        <p:spPr>
          <a:xfrm>
            <a:off x="1338470" y="513886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(Python)</a:t>
            </a:r>
            <a:endParaRPr lang="en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5DF86D-A187-60DE-9EAA-60488AC3907E}"/>
              </a:ext>
            </a:extLst>
          </p:cNvPr>
          <p:cNvSpPr txBox="1"/>
          <p:nvPr/>
        </p:nvSpPr>
        <p:spPr>
          <a:xfrm>
            <a:off x="9558414" y="5156235"/>
            <a:ext cx="1457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YottaDB</a:t>
            </a:r>
          </a:p>
          <a:p>
            <a:r>
              <a:rPr lang="en-US" b="1" dirty="0">
                <a:solidFill>
                  <a:srgbClr val="FFFF00"/>
                </a:solidFill>
              </a:rPr>
              <a:t>database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8B874837-BD2C-4052-D10C-2C6FD0E0B0CD}"/>
              </a:ext>
            </a:extLst>
          </p:cNvPr>
          <p:cNvSpPr/>
          <p:nvPr/>
        </p:nvSpPr>
        <p:spPr>
          <a:xfrm>
            <a:off x="2888974" y="3098027"/>
            <a:ext cx="4723406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361A8CD9-16B7-755F-4E8A-F0E7175BCAB8}"/>
              </a:ext>
            </a:extLst>
          </p:cNvPr>
          <p:cNvSpPr/>
          <p:nvPr/>
        </p:nvSpPr>
        <p:spPr>
          <a:xfrm>
            <a:off x="2888972" y="4138324"/>
            <a:ext cx="4723405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6DFC8CCF-17FF-8005-BDBE-EC14BF92D6E8}"/>
              </a:ext>
            </a:extLst>
          </p:cNvPr>
          <p:cNvSpPr/>
          <p:nvPr/>
        </p:nvSpPr>
        <p:spPr>
          <a:xfrm>
            <a:off x="2888974" y="5198496"/>
            <a:ext cx="4723403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2353F4B-EBEF-762E-C172-A1A47A2201EF}"/>
              </a:ext>
            </a:extLst>
          </p:cNvPr>
          <p:cNvSpPr/>
          <p:nvPr/>
        </p:nvSpPr>
        <p:spPr>
          <a:xfrm>
            <a:off x="7612380" y="2900238"/>
            <a:ext cx="1690646" cy="3154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ABB92C-848E-CB9F-39FD-089BE313EB37}"/>
              </a:ext>
            </a:extLst>
          </p:cNvPr>
          <p:cNvSpPr txBox="1"/>
          <p:nvPr/>
        </p:nvSpPr>
        <p:spPr>
          <a:xfrm>
            <a:off x="8174125" y="4099659"/>
            <a:ext cx="978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MIND server</a:t>
            </a:r>
            <a:endParaRPr lang="en-NL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3112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0E760-2C4C-850E-B41F-5ABE7C392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E02B4-15A9-AA4C-6998-FB05601E23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7813373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</TotalTime>
  <Words>627</Words>
  <Application>Microsoft Office PowerPoint</Application>
  <PresentationFormat>Widescreen</PresentationFormat>
  <Paragraphs>88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Century Gothic</vt:lpstr>
      <vt:lpstr>Wingdings 3</vt:lpstr>
      <vt:lpstr>Ion Boardroom</vt:lpstr>
      <vt:lpstr>MIND for YottaDB</vt:lpstr>
      <vt:lpstr>Streamline MUMPS API development with no worries</vt:lpstr>
      <vt:lpstr>Distributed architecture</vt:lpstr>
      <vt:lpstr>Up and running in no time</vt:lpstr>
      <vt:lpstr>RESP3 as network protocol</vt:lpstr>
      <vt:lpstr>Architecture</vt:lpstr>
      <vt:lpstr>All you need is JSON to describe your API</vt:lpstr>
      <vt:lpstr>fdssdf</vt:lpstr>
      <vt:lpstr>Multiple client topology</vt:lpstr>
      <vt:lpstr>Future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Stefano Lalli</dc:creator>
  <cp:lastModifiedBy>Stefano Lalli</cp:lastModifiedBy>
  <cp:revision>8</cp:revision>
  <dcterms:created xsi:type="dcterms:W3CDTF">2026-02-21T16:55:37Z</dcterms:created>
  <dcterms:modified xsi:type="dcterms:W3CDTF">2026-02-23T12:37:31Z</dcterms:modified>
</cp:coreProperties>
</file>